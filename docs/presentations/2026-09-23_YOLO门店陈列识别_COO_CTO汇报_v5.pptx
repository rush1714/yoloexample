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589"/>
  </p:normalViewPr>
  <p:slideViewPr>
    <p:cSldViewPr snapToGrid="0">
      <p:cViewPr varScale="1">
        <p:scale>
          <a:sx n="120" d="100"/>
          <a:sy n="120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ECA9C38-9525-8BA8-7B71-C8048F3245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32F252-6356-2BA3-2F9D-C1161C7E35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94E5B-786A-444E-8085-7B4918393A4B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7531E7-BD14-E784-36F0-D531B3C5F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DB1183-4B17-1859-9335-7BD7C778D2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B27CF-3D43-104A-BABB-CF93025580B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3083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CA596-0559-3545-99FC-44F7E9A5A96B}" type="datetimeFigureOut">
              <a:rPr kumimoji="1" lang="zh-CN" altLang="en-US" smtClean="0"/>
              <a:t>2026/9/23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23738-5FE7-EF45-8FEF-7CF35BE175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9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5DFD7-42ED-3517-83D3-80F51177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631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和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3967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8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211667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3" name="Object 3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211667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366186" y="1323975"/>
            <a:ext cx="1145963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861" y="1646238"/>
            <a:ext cx="10972800" cy="2052926"/>
          </a:xfrm>
        </p:spPr>
        <p:txBody>
          <a:bodyPr anchor="ctr"/>
          <a:lstStyle>
            <a:lvl1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3000" smtClean="0">
                <a:solidFill>
                  <a:srgbClr val="002060"/>
                </a:solidFill>
                <a:latin typeface="Arial" pitchFamily="34" charset="0"/>
                <a:ea typeface="华文楷体" pitchFamily="2" charset="-122"/>
                <a:cs typeface="Arial" pitchFamily="34" charset="0"/>
              </a:defRPr>
            </a:lvl1pPr>
          </a:lstStyle>
          <a:p>
            <a:pPr lvl="0"/>
            <a:endParaRPr lang="en-US" altLang="zh-CN" noProof="0" dirty="0"/>
          </a:p>
        </p:txBody>
      </p:sp>
      <p:pic>
        <p:nvPicPr>
          <p:cNvPr id="34" name="Picture 10" descr="R120_G137_B251-200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06" y="893678"/>
            <a:ext cx="1380295" cy="35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/>
          <p:cNvGrpSpPr/>
          <p:nvPr userDrawn="1"/>
        </p:nvGrpSpPr>
        <p:grpSpPr>
          <a:xfrm>
            <a:off x="323064" y="4122955"/>
            <a:ext cx="11574229" cy="2347548"/>
            <a:chOff x="152431" y="3892270"/>
            <a:chExt cx="8594725" cy="2233612"/>
          </a:xfrm>
        </p:grpSpPr>
        <p:sp>
          <p:nvSpPr>
            <p:cNvPr id="50" name="Rectangle 22"/>
            <p:cNvSpPr>
              <a:spLocks noChangeArrowheads="1"/>
            </p:cNvSpPr>
            <p:nvPr/>
          </p:nvSpPr>
          <p:spPr bwMode="auto">
            <a:xfrm>
              <a:off x="152431" y="3892270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1" name="Rectangle 23"/>
            <p:cNvSpPr>
              <a:spLocks noChangeArrowheads="1"/>
            </p:cNvSpPr>
            <p:nvPr/>
          </p:nvSpPr>
          <p:spPr bwMode="auto">
            <a:xfrm>
              <a:off x="152431" y="4776774"/>
              <a:ext cx="1356313" cy="461411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2" name="Rectangle 24"/>
            <p:cNvSpPr>
              <a:spLocks noChangeArrowheads="1"/>
            </p:cNvSpPr>
            <p:nvPr/>
          </p:nvSpPr>
          <p:spPr bwMode="auto">
            <a:xfrm>
              <a:off x="152431" y="5666068"/>
              <a:ext cx="425231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3" name="Rectangle 25"/>
            <p:cNvSpPr>
              <a:spLocks noChangeArrowheads="1"/>
            </p:cNvSpPr>
            <p:nvPr/>
          </p:nvSpPr>
          <p:spPr bwMode="auto">
            <a:xfrm>
              <a:off x="7390843" y="3892270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4" name="Rectangle 26"/>
            <p:cNvSpPr>
              <a:spLocks noChangeArrowheads="1"/>
            </p:cNvSpPr>
            <p:nvPr/>
          </p:nvSpPr>
          <p:spPr bwMode="auto">
            <a:xfrm>
              <a:off x="7390843" y="4776774"/>
              <a:ext cx="1356313" cy="461411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5" name="Rectangle 27"/>
            <p:cNvSpPr>
              <a:spLocks noChangeArrowheads="1"/>
            </p:cNvSpPr>
            <p:nvPr/>
          </p:nvSpPr>
          <p:spPr bwMode="auto">
            <a:xfrm>
              <a:off x="8321925" y="5666068"/>
              <a:ext cx="425231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6" name="Freeform 28"/>
            <p:cNvSpPr>
              <a:spLocks/>
            </p:cNvSpPr>
            <p:nvPr/>
          </p:nvSpPr>
          <p:spPr bwMode="auto">
            <a:xfrm>
              <a:off x="1962429" y="3892270"/>
              <a:ext cx="4524205" cy="4598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2880" y="288"/>
                </a:cxn>
                <a:cxn ang="0">
                  <a:pos x="2838" y="256"/>
                </a:cxn>
                <a:cxn ang="0">
                  <a:pos x="2660" y="134"/>
                </a:cxn>
                <a:cxn ang="0">
                  <a:pos x="2430" y="46"/>
                </a:cxn>
                <a:cxn ang="0">
                  <a:pos x="2230" y="10"/>
                </a:cxn>
                <a:cxn ang="0">
                  <a:pos x="2112" y="0"/>
                </a:cxn>
                <a:cxn ang="0">
                  <a:pos x="0" y="0"/>
                </a:cxn>
              </a:cxnLst>
              <a:rect l="0" t="0" r="r" b="b"/>
              <a:pathLst>
                <a:path w="2880" h="288">
                  <a:moveTo>
                    <a:pt x="0" y="0"/>
                  </a:moveTo>
                  <a:lnTo>
                    <a:pt x="0" y="288"/>
                  </a:lnTo>
                  <a:lnTo>
                    <a:pt x="2880" y="288"/>
                  </a:lnTo>
                  <a:lnTo>
                    <a:pt x="2838" y="256"/>
                  </a:lnTo>
                  <a:cubicBezTo>
                    <a:pt x="2838" y="256"/>
                    <a:pt x="2728" y="169"/>
                    <a:pt x="2660" y="134"/>
                  </a:cubicBezTo>
                  <a:cubicBezTo>
                    <a:pt x="2592" y="99"/>
                    <a:pt x="2502" y="67"/>
                    <a:pt x="2430" y="46"/>
                  </a:cubicBezTo>
                  <a:cubicBezTo>
                    <a:pt x="2358" y="25"/>
                    <a:pt x="2283" y="18"/>
                    <a:pt x="2230" y="10"/>
                  </a:cubicBezTo>
                  <a:lnTo>
                    <a:pt x="21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7" name="Freeform 29"/>
            <p:cNvSpPr>
              <a:spLocks/>
            </p:cNvSpPr>
            <p:nvPr/>
          </p:nvSpPr>
          <p:spPr bwMode="auto">
            <a:xfrm>
              <a:off x="1962429" y="4776774"/>
              <a:ext cx="5017410" cy="46460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3194" y="290"/>
                </a:cxn>
                <a:cxn ang="0">
                  <a:pos x="3188" y="256"/>
                </a:cxn>
                <a:cxn ang="0">
                  <a:pos x="3160" y="146"/>
                </a:cxn>
                <a:cxn ang="0">
                  <a:pos x="3118" y="34"/>
                </a:cxn>
                <a:cxn ang="0">
                  <a:pos x="3102" y="2"/>
                </a:cxn>
                <a:cxn ang="0">
                  <a:pos x="0" y="0"/>
                </a:cxn>
              </a:cxnLst>
              <a:rect l="0" t="0" r="r" b="b"/>
              <a:pathLst>
                <a:path w="3194" h="290">
                  <a:moveTo>
                    <a:pt x="0" y="0"/>
                  </a:moveTo>
                  <a:lnTo>
                    <a:pt x="0" y="288"/>
                  </a:lnTo>
                  <a:lnTo>
                    <a:pt x="3194" y="290"/>
                  </a:lnTo>
                  <a:lnTo>
                    <a:pt x="3188" y="256"/>
                  </a:lnTo>
                  <a:cubicBezTo>
                    <a:pt x="3182" y="232"/>
                    <a:pt x="3172" y="183"/>
                    <a:pt x="3160" y="146"/>
                  </a:cubicBezTo>
                  <a:cubicBezTo>
                    <a:pt x="3146" y="103"/>
                    <a:pt x="3128" y="58"/>
                    <a:pt x="3118" y="34"/>
                  </a:cubicBezTo>
                  <a:lnTo>
                    <a:pt x="310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8" name="Freeform 30"/>
            <p:cNvSpPr>
              <a:spLocks/>
            </p:cNvSpPr>
            <p:nvPr/>
          </p:nvSpPr>
          <p:spPr bwMode="auto">
            <a:xfrm>
              <a:off x="5582426" y="5662875"/>
              <a:ext cx="1447999" cy="463007"/>
            </a:xfrm>
            <a:custGeom>
              <a:avLst/>
              <a:gdLst/>
              <a:ahLst/>
              <a:cxnLst>
                <a:cxn ang="0">
                  <a:pos x="0" y="290"/>
                </a:cxn>
                <a:cxn ang="0">
                  <a:pos x="0" y="2"/>
                </a:cxn>
                <a:cxn ang="0">
                  <a:pos x="3194" y="0"/>
                </a:cxn>
                <a:cxn ang="0">
                  <a:pos x="3176" y="156"/>
                </a:cxn>
                <a:cxn ang="0">
                  <a:pos x="3150" y="254"/>
                </a:cxn>
                <a:cxn ang="0">
                  <a:pos x="3140" y="290"/>
                </a:cxn>
                <a:cxn ang="0">
                  <a:pos x="0" y="290"/>
                </a:cxn>
              </a:cxnLst>
              <a:rect l="0" t="0" r="r" b="b"/>
              <a:pathLst>
                <a:path w="3194" h="290">
                  <a:moveTo>
                    <a:pt x="0" y="290"/>
                  </a:moveTo>
                  <a:lnTo>
                    <a:pt x="0" y="2"/>
                  </a:lnTo>
                  <a:lnTo>
                    <a:pt x="3194" y="0"/>
                  </a:lnTo>
                  <a:lnTo>
                    <a:pt x="3176" y="156"/>
                  </a:lnTo>
                  <a:cubicBezTo>
                    <a:pt x="3169" y="198"/>
                    <a:pt x="3162" y="232"/>
                    <a:pt x="3150" y="254"/>
                  </a:cubicBezTo>
                  <a:lnTo>
                    <a:pt x="3140" y="290"/>
                  </a:lnTo>
                  <a:lnTo>
                    <a:pt x="0" y="290"/>
                  </a:lnTo>
                  <a:close/>
                </a:path>
              </a:pathLst>
            </a:custGeom>
            <a:solidFill>
              <a:srgbClr val="FEFFFE">
                <a:alpha val="49001"/>
              </a:srgbClr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  <p:sp>
          <p:nvSpPr>
            <p:cNvPr id="59" name="Rectangle 31"/>
            <p:cNvSpPr>
              <a:spLocks noChangeArrowheads="1"/>
            </p:cNvSpPr>
            <p:nvPr/>
          </p:nvSpPr>
          <p:spPr bwMode="auto">
            <a:xfrm>
              <a:off x="2866638" y="5666068"/>
              <a:ext cx="1356313" cy="459814"/>
            </a:xfrm>
            <a:prstGeom prst="rect">
              <a:avLst/>
            </a:prstGeom>
            <a:solidFill>
              <a:srgbClr val="FEFFFE">
                <a:alpha val="4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799"/>
            </a:p>
          </p:txBody>
        </p:sp>
      </p:grpSp>
      <p:pic>
        <p:nvPicPr>
          <p:cNvPr id="19" name="Picture 2">
            <a:extLst>
              <a:ext uri="{FF2B5EF4-FFF2-40B4-BE49-F238E27FC236}">
                <a16:creationId xmlns:a16="http://schemas.microsoft.com/office/drawing/2014/main" id="{DD52E5A6-C115-4834-BCCA-8D7A2DE42A5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49252" y="815799"/>
            <a:ext cx="1561644" cy="497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F3F5D-EEC0-4CFB-860A-10E300F6E46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1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封底和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4006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67DF31-BD6A-492D-B733-80783485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76" y="464379"/>
            <a:ext cx="118440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260F66BC-CADF-4D1B-B45B-FD2D748A5F10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11377620" y="6484198"/>
            <a:ext cx="814375" cy="276241"/>
          </a:xfrm>
          <a:prstGeom prst="rect">
            <a:avLst/>
          </a:prstGeom>
          <a:noFill/>
          <a:ln>
            <a:noFill/>
          </a:ln>
        </p:spPr>
        <p:txBody>
          <a:bodyPr lIns="91311" tIns="45656" rIns="91311" bIns="45656" anchor="ctr" anchorCtr="1"/>
          <a:lstStyle>
            <a:lvl1pPr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1pPr>
            <a:lvl2pPr marL="742950" indent="-28575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2pPr>
            <a:lvl3pPr marL="11430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3pPr>
            <a:lvl4pPr marL="16002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4pPr>
            <a:lvl5pPr marL="2057400" indent="-228600" defTabSz="912813"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charset="0"/>
                <a:ea typeface="宋体" charset="-122"/>
              </a:defRPr>
            </a:lvl9pPr>
          </a:lstStyle>
          <a:p>
            <a:pPr>
              <a:lnSpc>
                <a:spcPct val="85000"/>
              </a:lnSpc>
              <a:defRPr/>
            </a:pPr>
            <a:fld id="{ED7B72D3-564A-4967-810A-1EDFAB61BF5E}" type="slidenum">
              <a:rPr lang="en-US" altLang="zh-CN" sz="900" b="0" smtClean="0">
                <a:solidFill>
                  <a:srgbClr val="1482B4"/>
                </a:solidFill>
                <a:latin typeface="微软雅黑" pitchFamily="34" charset="-122"/>
                <a:ea typeface="微软雅黑" pitchFamily="34" charset="-122"/>
                <a:cs typeface="Arial" charset="0"/>
              </a:rPr>
              <a:pPr>
                <a:lnSpc>
                  <a:spcPct val="85000"/>
                </a:lnSpc>
                <a:defRPr/>
              </a:pPr>
              <a:t>‹#›</a:t>
            </a:fld>
            <a:endParaRPr lang="en-US" altLang="zh-CN" sz="900" b="0" dirty="0">
              <a:solidFill>
                <a:srgbClr val="1482B4"/>
              </a:solidFill>
              <a:latin typeface="微软雅黑" pitchFamily="34" charset="-122"/>
              <a:ea typeface="微软雅黑" pitchFamily="34" charset="-122"/>
              <a:cs typeface="Arial" charset="0"/>
            </a:endParaRPr>
          </a:p>
        </p:txBody>
      </p:sp>
      <p:cxnSp>
        <p:nvCxnSpPr>
          <p:cNvPr id="15" name="直接连接符 10">
            <a:extLst>
              <a:ext uri="{FF2B5EF4-FFF2-40B4-BE49-F238E27FC236}">
                <a16:creationId xmlns:a16="http://schemas.microsoft.com/office/drawing/2014/main" id="{B5ED4FF1-D90E-4646-B40E-0DA691816FDA}"/>
              </a:ext>
            </a:extLst>
          </p:cNvPr>
          <p:cNvCxnSpPr/>
          <p:nvPr userDrawn="1"/>
        </p:nvCxnSpPr>
        <p:spPr>
          <a:xfrm>
            <a:off x="149776" y="397851"/>
            <a:ext cx="11844000" cy="0"/>
          </a:xfrm>
          <a:prstGeom prst="line">
            <a:avLst/>
          </a:prstGeom>
          <a:ln w="9525">
            <a:solidFill>
              <a:srgbClr val="CD50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0507DD08-9941-4CBA-98AE-E45FB831E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0840" r="17006"/>
          <a:stretch/>
        </p:blipFill>
        <p:spPr>
          <a:xfrm>
            <a:off x="87866" y="51695"/>
            <a:ext cx="792000" cy="309595"/>
          </a:xfrm>
          <a:prstGeom prst="rect">
            <a:avLst/>
          </a:prstGeom>
        </p:spPr>
      </p:pic>
      <p:sp>
        <p:nvSpPr>
          <p:cNvPr id="17" name="Line 7">
            <a:extLst>
              <a:ext uri="{FF2B5EF4-FFF2-40B4-BE49-F238E27FC236}">
                <a16:creationId xmlns:a16="http://schemas.microsoft.com/office/drawing/2014/main" id="{0A497401-70BF-451B-954C-CDE99D24E1DF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1671300" y="6503255"/>
            <a:ext cx="0" cy="238125"/>
          </a:xfrm>
          <a:prstGeom prst="line">
            <a:avLst/>
          </a:prstGeom>
          <a:noFill/>
          <a:ln w="9525">
            <a:solidFill>
              <a:srgbClr val="1482B4"/>
            </a:solidFill>
            <a:round/>
            <a:headEnd/>
            <a:tailEnd/>
          </a:ln>
        </p:spPr>
        <p:txBody>
          <a:bodyPr wrap="none" lIns="91311" tIns="45656" rIns="91311" bIns="45656" anchor="ctr"/>
          <a:lstStyle/>
          <a:p>
            <a:pPr>
              <a:defRPr/>
            </a:pPr>
            <a:endParaRPr lang="zh-CN" altLang="en-US" sz="1799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Picture">
            <a:extLst>
              <a:ext uri="{FF2B5EF4-FFF2-40B4-BE49-F238E27FC236}">
                <a16:creationId xmlns:a16="http://schemas.microsoft.com/office/drawing/2014/main" id="{F3211D2D-2283-714A-B9D8-0DAB9E394B8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1416118" y="116620"/>
            <a:ext cx="521587" cy="20810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857E03-B7FC-344B-9F78-373F8AC28048}"/>
              </a:ext>
            </a:extLst>
          </p:cNvPr>
          <p:cNvSpPr txBox="1"/>
          <p:nvPr userDrawn="1"/>
        </p:nvSpPr>
        <p:spPr>
          <a:xfrm>
            <a:off x="149777" y="6567937"/>
            <a:ext cx="4211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IBM Consulting / </a:t>
            </a: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2022 IBM Corporation</a:t>
            </a:r>
            <a:endParaRPr kumimoji="1" lang="zh-CN" altLang="en-US" sz="7199" dirty="0"/>
          </a:p>
        </p:txBody>
      </p:sp>
      <p:sp>
        <p:nvSpPr>
          <p:cNvPr id="76" name="Rectangle 21">
            <a:extLst>
              <a:ext uri="{FF2B5EF4-FFF2-40B4-BE49-F238E27FC236}">
                <a16:creationId xmlns:a16="http://schemas.microsoft.com/office/drawing/2014/main" id="{9AAB73DD-967A-B041-910E-CE3E8877D9C4}"/>
              </a:ext>
            </a:extLst>
          </p:cNvPr>
          <p:cNvSpPr/>
          <p:nvPr userDrawn="1"/>
        </p:nvSpPr>
        <p:spPr bwMode="auto">
          <a:xfrm>
            <a:off x="-717602" y="1021147"/>
            <a:ext cx="576000" cy="910644"/>
          </a:xfrm>
          <a:prstGeom prst="rect">
            <a:avLst/>
          </a:prstGeom>
          <a:solidFill>
            <a:srgbClr val="2A0A18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Magenta 100*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42  10  24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2a0a18</a:t>
            </a:r>
          </a:p>
        </p:txBody>
      </p:sp>
      <p:sp>
        <p:nvSpPr>
          <p:cNvPr id="77" name="Rectangle 22">
            <a:extLst>
              <a:ext uri="{FF2B5EF4-FFF2-40B4-BE49-F238E27FC236}">
                <a16:creationId xmlns:a16="http://schemas.microsoft.com/office/drawing/2014/main" id="{EEC0A4A2-79A7-734F-B48B-1DA5D03ECCCE}"/>
              </a:ext>
            </a:extLst>
          </p:cNvPr>
          <p:cNvSpPr/>
          <p:nvPr userDrawn="1"/>
        </p:nvSpPr>
        <p:spPr bwMode="auto">
          <a:xfrm>
            <a:off x="-717602" y="1931628"/>
            <a:ext cx="576000" cy="910644"/>
          </a:xfrm>
          <a:prstGeom prst="rect">
            <a:avLst/>
          </a:prstGeom>
          <a:solidFill>
            <a:srgbClr val="FF8389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Red 40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255  131  137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ff8389</a:t>
            </a:r>
          </a:p>
        </p:txBody>
      </p:sp>
      <p:sp>
        <p:nvSpPr>
          <p:cNvPr id="78" name="Rectangle 23">
            <a:extLst>
              <a:ext uri="{FF2B5EF4-FFF2-40B4-BE49-F238E27FC236}">
                <a16:creationId xmlns:a16="http://schemas.microsoft.com/office/drawing/2014/main" id="{04E516A2-FA0E-9D41-94CF-D8E7D68147FC}"/>
              </a:ext>
            </a:extLst>
          </p:cNvPr>
          <p:cNvSpPr/>
          <p:nvPr userDrawn="1"/>
        </p:nvSpPr>
        <p:spPr bwMode="auto">
          <a:xfrm>
            <a:off x="-717602" y="2842109"/>
            <a:ext cx="576000" cy="910644"/>
          </a:xfrm>
          <a:prstGeom prst="rect">
            <a:avLst/>
          </a:prstGeom>
          <a:solidFill>
            <a:srgbClr val="FDDC69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Yellow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253  220  105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fddc69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79" name="Rectangle 24">
            <a:extLst>
              <a:ext uri="{FF2B5EF4-FFF2-40B4-BE49-F238E27FC236}">
                <a16:creationId xmlns:a16="http://schemas.microsoft.com/office/drawing/2014/main" id="{338AD8BC-C96B-FB4F-8485-2969895D4718}"/>
              </a:ext>
            </a:extLst>
          </p:cNvPr>
          <p:cNvSpPr/>
          <p:nvPr userDrawn="1"/>
        </p:nvSpPr>
        <p:spPr bwMode="auto">
          <a:xfrm>
            <a:off x="-717602" y="3752591"/>
            <a:ext cx="576000" cy="910644"/>
          </a:xfrm>
          <a:prstGeom prst="rect">
            <a:avLst/>
          </a:prstGeom>
          <a:solidFill>
            <a:srgbClr val="740937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Magenta 80*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116  9  55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740937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0" name="Rectangle 25">
            <a:extLst>
              <a:ext uri="{FF2B5EF4-FFF2-40B4-BE49-F238E27FC236}">
                <a16:creationId xmlns:a16="http://schemas.microsoft.com/office/drawing/2014/main" id="{E79D530D-57C0-4240-9A09-D21513C04ABB}"/>
              </a:ext>
            </a:extLst>
          </p:cNvPr>
          <p:cNvSpPr/>
          <p:nvPr userDrawn="1"/>
        </p:nvSpPr>
        <p:spPr bwMode="auto">
          <a:xfrm>
            <a:off x="-717602" y="5573554"/>
            <a:ext cx="576000" cy="910644"/>
          </a:xfrm>
          <a:prstGeom prst="rect">
            <a:avLst/>
          </a:prstGeom>
          <a:solidFill>
            <a:srgbClr val="42BE65"/>
          </a:solidFill>
          <a:ln w="19050" cap="flat" cmpd="sng" algn="ctr">
            <a:solidFill>
              <a:schemeClr val="accent6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Green 40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66  190  101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42be65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1" name="Rectangle 26">
            <a:extLst>
              <a:ext uri="{FF2B5EF4-FFF2-40B4-BE49-F238E27FC236}">
                <a16:creationId xmlns:a16="http://schemas.microsoft.com/office/drawing/2014/main" id="{E7FA8CB7-4A6C-4C40-9D01-ABDF1A3587C7}"/>
              </a:ext>
            </a:extLst>
          </p:cNvPr>
          <p:cNvSpPr/>
          <p:nvPr userDrawn="1"/>
        </p:nvSpPr>
        <p:spPr bwMode="auto">
          <a:xfrm>
            <a:off x="-1295775" y="2847945"/>
            <a:ext cx="576000" cy="910644"/>
          </a:xfrm>
          <a:prstGeom prst="rect">
            <a:avLst/>
          </a:prstGeom>
          <a:solidFill>
            <a:srgbClr val="BAE6FF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Cyan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186  230  255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bae6ff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2" name="Rectangle 27">
            <a:extLst>
              <a:ext uri="{FF2B5EF4-FFF2-40B4-BE49-F238E27FC236}">
                <a16:creationId xmlns:a16="http://schemas.microsoft.com/office/drawing/2014/main" id="{DEE6B26F-F93F-F047-9FA8-26588535737F}"/>
              </a:ext>
            </a:extLst>
          </p:cNvPr>
          <p:cNvSpPr/>
          <p:nvPr userDrawn="1"/>
        </p:nvSpPr>
        <p:spPr bwMode="auto">
          <a:xfrm>
            <a:off x="-1295775" y="1015149"/>
            <a:ext cx="576000" cy="910644"/>
          </a:xfrm>
          <a:prstGeom prst="rect">
            <a:avLst/>
          </a:prstGeom>
          <a:solidFill>
            <a:srgbClr val="061727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Cyan 100*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6  23  39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061727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3" name="Rectangle 28">
            <a:extLst>
              <a:ext uri="{FF2B5EF4-FFF2-40B4-BE49-F238E27FC236}">
                <a16:creationId xmlns:a16="http://schemas.microsoft.com/office/drawing/2014/main" id="{F48B3754-4D83-0645-967D-1C75E6397F20}"/>
              </a:ext>
            </a:extLst>
          </p:cNvPr>
          <p:cNvSpPr/>
          <p:nvPr userDrawn="1"/>
        </p:nvSpPr>
        <p:spPr bwMode="auto">
          <a:xfrm>
            <a:off x="-717602" y="4652111"/>
            <a:ext cx="576000" cy="910644"/>
          </a:xfrm>
          <a:prstGeom prst="rect">
            <a:avLst/>
          </a:prstGeom>
          <a:solidFill>
            <a:srgbClr val="004144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Teal 80*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0  65  68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004144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4" name="Rectangle 29">
            <a:extLst>
              <a:ext uri="{FF2B5EF4-FFF2-40B4-BE49-F238E27FC236}">
                <a16:creationId xmlns:a16="http://schemas.microsoft.com/office/drawing/2014/main" id="{03462319-6DD2-FC40-A0AD-3D0763AFD1F7}"/>
              </a:ext>
            </a:extLst>
          </p:cNvPr>
          <p:cNvSpPr/>
          <p:nvPr userDrawn="1"/>
        </p:nvSpPr>
        <p:spPr bwMode="auto">
          <a:xfrm>
            <a:off x="-1295775" y="1937628"/>
            <a:ext cx="576000" cy="910644"/>
          </a:xfrm>
          <a:prstGeom prst="rect">
            <a:avLst/>
          </a:prstGeom>
          <a:solidFill>
            <a:srgbClr val="0043CE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Blue 70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0  67  206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  <a:b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</a:b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0043ce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5" name="Rectangle 30">
            <a:extLst>
              <a:ext uri="{FF2B5EF4-FFF2-40B4-BE49-F238E27FC236}">
                <a16:creationId xmlns:a16="http://schemas.microsoft.com/office/drawing/2014/main" id="{09CF8412-0E66-5441-B0EC-EACB1510FFC5}"/>
              </a:ext>
            </a:extLst>
          </p:cNvPr>
          <p:cNvSpPr/>
          <p:nvPr userDrawn="1"/>
        </p:nvSpPr>
        <p:spPr bwMode="auto">
          <a:xfrm>
            <a:off x="-1295775" y="3750191"/>
            <a:ext cx="576000" cy="910644"/>
          </a:xfrm>
          <a:prstGeom prst="rect">
            <a:avLst/>
          </a:prstGeom>
          <a:solidFill>
            <a:srgbClr val="565151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70*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86  81  81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565151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6" name="Rectangle 31">
            <a:extLst>
              <a:ext uri="{FF2B5EF4-FFF2-40B4-BE49-F238E27FC236}">
                <a16:creationId xmlns:a16="http://schemas.microsoft.com/office/drawing/2014/main" id="{6F346B48-EC16-5F4B-87DB-6040424D189B}"/>
              </a:ext>
            </a:extLst>
          </p:cNvPr>
          <p:cNvSpPr/>
          <p:nvPr userDrawn="1"/>
        </p:nvSpPr>
        <p:spPr bwMode="auto">
          <a:xfrm>
            <a:off x="-1295775" y="4661872"/>
            <a:ext cx="576000" cy="910644"/>
          </a:xfrm>
          <a:prstGeom prst="rect">
            <a:avLst/>
          </a:prstGeom>
          <a:solidFill>
            <a:srgbClr val="ADA8A8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40*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173  168  168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ada8a8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  <p:sp>
        <p:nvSpPr>
          <p:cNvPr id="87" name="Rectangle 32">
            <a:extLst>
              <a:ext uri="{FF2B5EF4-FFF2-40B4-BE49-F238E27FC236}">
                <a16:creationId xmlns:a16="http://schemas.microsoft.com/office/drawing/2014/main" id="{A0E7E9AA-2234-804A-B5CF-AAA0A6511C3C}"/>
              </a:ext>
            </a:extLst>
          </p:cNvPr>
          <p:cNvSpPr/>
          <p:nvPr userDrawn="1"/>
        </p:nvSpPr>
        <p:spPr bwMode="auto">
          <a:xfrm>
            <a:off x="-1295775" y="5573554"/>
            <a:ext cx="576000" cy="910644"/>
          </a:xfrm>
          <a:prstGeom prst="rect">
            <a:avLst/>
          </a:prstGeom>
          <a:solidFill>
            <a:srgbClr val="E5E0DF"/>
          </a:solidFill>
          <a:ln w="1905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37" tIns="91437" rIns="91437" bIns="9143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Warm Gray 20*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RGB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229  224  223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HEX</a:t>
            </a:r>
          </a:p>
          <a:p>
            <a:pPr marL="0" marR="0" lvl="0" indent="0" defTabSz="68591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0" cap="none" spc="0" normalizeH="0" baseline="0" noProof="0" dirty="0">
                <a:ln>
                  <a:noFill/>
                </a:ln>
                <a:solidFill>
                  <a:srgbClr val="061727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+mn-cs"/>
              </a:rPr>
              <a:t>e5e0df</a:t>
            </a:r>
          </a:p>
          <a:p>
            <a:pPr marL="0" marR="0" lvl="0" indent="0" defTabSz="914309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0" cap="none" spc="0" normalizeH="0" baseline="0" noProof="0" dirty="0">
              <a:ln>
                <a:noFill/>
              </a:ln>
              <a:solidFill>
                <a:srgbClr val="061727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39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sldNum="0" hdr="0" dt="0"/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kumimoji="0" lang="en-US" altLang="en-US" sz="2199" b="1" i="0" u="none" strike="noStrike" kern="0" cap="none" spc="0" normalizeH="0" baseline="0" dirty="0">
          <a:ln>
            <a:noFill/>
          </a:ln>
          <a:solidFill>
            <a:srgbClr val="3F71A3"/>
          </a:solidFill>
          <a:effectLst/>
          <a:uLnTx/>
          <a:uFillTx/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0" indent="0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j-ea"/>
          <a:ea typeface="+mj-ea"/>
          <a:cs typeface="+mn-cs"/>
        </a:defRPr>
      </a:lvl1pPr>
      <a:lvl2pPr marL="457154" indent="0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399" kern="1200">
          <a:solidFill>
            <a:schemeClr val="tx1"/>
          </a:solidFill>
          <a:latin typeface="+mj-ea"/>
          <a:ea typeface="+mj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j-ea"/>
          <a:ea typeface="+mj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j-ea"/>
          <a:ea typeface="+mj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j-ea"/>
          <a:ea typeface="+mj-ea"/>
          <a:cs typeface="+mn-cs"/>
        </a:defRPr>
      </a:lvl5pPr>
      <a:lvl6pPr marL="2514348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2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2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0" y="1188720"/>
            <a:ext cx="2011680" cy="10972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门店陈列</a:t>
            </a:r>
            <a:r>
              <a:rPr dirty="0">
                <a:latin typeface="Microsoft YaHei"/>
                <a:ea typeface="Microsoft YaHei"/>
                <a:cs typeface="Microsoft YaHei"/>
              </a:rPr>
              <a:t> AI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智能识别方案汇报</a:t>
            </a:r>
            <a:endParaRPr dirty="0"/>
          </a:p>
          <a:p>
            <a:pPr>
              <a:spcBef>
                <a:spcPts val="1200"/>
              </a:spcBef>
              <a:defRPr sz="1800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聚焦重点</a:t>
            </a:r>
            <a:r>
              <a:rPr dirty="0">
                <a:latin typeface="Microsoft YaHei"/>
                <a:ea typeface="Microsoft YaHei"/>
                <a:cs typeface="Microsoft YaHei"/>
              </a:rPr>
              <a:t> 4 国（20,000张/天）与未来全量（100,000张/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天）的技术选型、成本精算与终端落地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1" y="3185621"/>
            <a:ext cx="3337560" cy="201168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1" y="3368501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实测精度突破</a:t>
            </a:r>
            <a:r>
              <a:rPr dirty="0">
                <a:latin typeface="Microsoft YaHei"/>
                <a:ea typeface="Microsoft YaHei"/>
                <a:cs typeface="Microsoft YaHei"/>
              </a:rPr>
              <a:t> 96%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加纳真实货架实测</a:t>
            </a:r>
            <a:r>
              <a:rPr dirty="0">
                <a:latin typeface="Microsoft YaHei"/>
                <a:ea typeface="Microsoft YaHei"/>
                <a:cs typeface="Microsoft YaHei"/>
              </a:rPr>
              <a:t> Precision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达</a:t>
            </a:r>
            <a:r>
              <a:rPr dirty="0">
                <a:latin typeface="Microsoft YaHei"/>
                <a:ea typeface="Microsoft YaHei"/>
                <a:cs typeface="Microsoft YaHei"/>
              </a:rPr>
              <a:t> 96.10%，mAP50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突破</a:t>
            </a:r>
            <a:r>
              <a:rPr dirty="0">
                <a:latin typeface="Microsoft YaHei"/>
                <a:ea typeface="Microsoft YaHei"/>
                <a:cs typeface="Microsoft YaHei"/>
              </a:rPr>
              <a:t> 90.51%，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视觉识别完全达标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411980" y="3184696"/>
            <a:ext cx="3337560" cy="201168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0580" y="3367577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端侧</a:t>
            </a:r>
            <a:r>
              <a:rPr dirty="0">
                <a:latin typeface="Microsoft YaHei"/>
                <a:ea typeface="Microsoft YaHei"/>
                <a:cs typeface="Microsoft YaHei"/>
              </a:rPr>
              <a:t> 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成本实时扫描</a:t>
            </a: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支持手机本地</a:t>
            </a:r>
            <a:r>
              <a:rPr dirty="0">
                <a:latin typeface="Microsoft YaHei"/>
                <a:ea typeface="Microsoft YaHei"/>
                <a:cs typeface="Microsoft YaHei"/>
              </a:rPr>
              <a:t> 30FPS 实时扫码式识别，0 新增服务器算力成本，100%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离线可用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092439" y="3184696"/>
            <a:ext cx="3337560" cy="201168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9" y="3367577"/>
            <a:ext cx="2880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年化节省百万级成本</a:t>
            </a:r>
            <a:endParaRPr dirty="0"/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相比多模态大模型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API，在</a:t>
            </a:r>
            <a:r>
              <a:rPr dirty="0">
                <a:latin typeface="Microsoft YaHei"/>
                <a:ea typeface="Microsoft YaHei"/>
                <a:cs typeface="Microsoft YaHei"/>
              </a:rPr>
              <a:t> 2万~10万张/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天规模下每年节省</a:t>
            </a:r>
            <a:r>
              <a:rPr dirty="0">
                <a:latin typeface="Microsoft YaHei"/>
                <a:ea typeface="Microsoft YaHei"/>
                <a:cs typeface="Microsoft YaHei"/>
              </a:rPr>
              <a:t> 10万~270万元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费用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49693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汇报主体：</a:t>
            </a:r>
            <a:r>
              <a:rPr lang="en-US" altLang="zh-CN" dirty="0">
                <a:latin typeface="Microsoft YaHei"/>
                <a:ea typeface="Microsoft YaHei"/>
                <a:cs typeface="Microsoft YaHei"/>
              </a:rPr>
              <a:t>CRM2.0</a:t>
            </a:r>
            <a:r>
              <a:rPr dirty="0">
                <a:latin typeface="Microsoft YaHei"/>
                <a:ea typeface="Microsoft YaHei"/>
                <a:cs typeface="Microsoft YaHei"/>
              </a:rPr>
              <a:t>视觉 AI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研发项目组</a:t>
            </a:r>
            <a:r>
              <a:rPr dirty="0">
                <a:latin typeface="Microsoft YaHei"/>
                <a:ea typeface="Microsoft YaHei"/>
                <a:cs typeface="Microsoft YaHei"/>
              </a:rPr>
              <a:t>  |  日期：2026-09-23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核心结论先行：YOLO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自研方案商业与技术可行性已得到双重确立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280160"/>
          </a:xfrm>
          <a:prstGeom prst="roundRect">
            <a:avLst>
              <a:gd name="adj" fmla="val 4045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24128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结论：YOLO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方案完全可行，是兼顾实时交互体验与千万级降本的最佳选择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真实门店实测达到</a:t>
            </a:r>
            <a:r>
              <a:rPr dirty="0">
                <a:latin typeface="Microsoft YaHei"/>
                <a:ea typeface="Microsoft YaHei"/>
                <a:cs typeface="Microsoft YaHei"/>
              </a:rPr>
              <a:t> 96.10%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精确度与</a:t>
            </a:r>
            <a:r>
              <a:rPr dirty="0">
                <a:latin typeface="Microsoft YaHei"/>
                <a:ea typeface="Microsoft YaHei"/>
                <a:cs typeface="Microsoft YaHei"/>
              </a:rPr>
              <a:t> 90.5%+ mAP50。在重点 4 国（20,000张/天）及未来全量（100,000张/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天）业务下，YOLO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端侧识别带来</a:t>
            </a:r>
            <a:r>
              <a:rPr dirty="0">
                <a:latin typeface="Microsoft YaHei"/>
                <a:ea typeface="Microsoft YaHei"/>
                <a:cs typeface="Microsoft YaHei"/>
              </a:rPr>
              <a:t> 30FPS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实时扫码体验且服务器算力成本为</a:t>
            </a:r>
            <a:r>
              <a:rPr dirty="0">
                <a:latin typeface="Microsoft YaHei"/>
                <a:ea typeface="Microsoft YaHei"/>
                <a:cs typeface="Microsoft YaHei"/>
              </a:rPr>
              <a:t> $0；相比直接调用多模态大模型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API，每年可节省</a:t>
            </a:r>
            <a:r>
              <a:rPr dirty="0">
                <a:latin typeface="Microsoft YaHei"/>
                <a:ea typeface="Microsoft YaHei"/>
                <a:cs typeface="Microsoft YaHei"/>
              </a:rPr>
              <a:t> 10万 ~ 270万元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费用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3337560" cy="36118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为什么核心必须自研</a:t>
            </a:r>
            <a:r>
              <a:rPr dirty="0">
                <a:latin typeface="Microsoft YaHei"/>
                <a:ea typeface="Microsoft YaHei"/>
                <a:cs typeface="Microsoft YaHei"/>
              </a:rPr>
              <a:t> YOLO？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高精确度</a:t>
            </a:r>
            <a:r>
              <a:rPr dirty="0">
                <a:latin typeface="Microsoft YaHei"/>
                <a:ea typeface="Microsoft YaHei"/>
                <a:cs typeface="Microsoft YaHei"/>
              </a:rPr>
              <a:t> (96.10%)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在海外复杂光照、密集堆叠场景下，精确识别并统计目标包装，误检极低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真机实时扫描</a:t>
            </a:r>
            <a:r>
              <a:rPr dirty="0">
                <a:latin typeface="Microsoft YaHei"/>
                <a:ea typeface="Microsoft YaHei"/>
                <a:cs typeface="Microsoft YaHei"/>
              </a:rPr>
              <a:t> (30 FPS)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支持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CoreML</a:t>
            </a:r>
            <a:r>
              <a:rPr dirty="0">
                <a:latin typeface="Microsoft YaHei"/>
                <a:ea typeface="Microsoft YaHei"/>
                <a:cs typeface="Microsoft YaHei"/>
              </a:rPr>
              <a:t>/NCNN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手机本地运行，在相机取景流中实时画框，秒级核验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年化节省</a:t>
            </a:r>
            <a:r>
              <a:rPr dirty="0">
                <a:latin typeface="Microsoft YaHei"/>
                <a:ea typeface="Microsoft YaHei"/>
                <a:cs typeface="Microsoft YaHei"/>
              </a:rPr>
              <a:t> 10万~270万元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利用手机端算力或云端毫秒级批处理，单图算力成本极低，避免</a:t>
            </a:r>
            <a:r>
              <a:rPr dirty="0">
                <a:latin typeface="Microsoft YaHei"/>
                <a:ea typeface="Microsoft YaHei"/>
                <a:cs typeface="Microsoft YaHei"/>
              </a:rPr>
              <a:t> API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烧钱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697480"/>
            <a:ext cx="3337560" cy="36118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2697480"/>
            <a:ext cx="3337560" cy="8229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1D48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为什么不直接全量依赖大模型</a:t>
            </a:r>
            <a:r>
              <a:rPr dirty="0">
                <a:latin typeface="Microsoft YaHei"/>
                <a:ea typeface="Microsoft YaHei"/>
                <a:cs typeface="Microsoft YaHei"/>
              </a:rPr>
              <a:t>？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无法做到取景框实时扫码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大模型单图需</a:t>
            </a:r>
            <a:r>
              <a:rPr dirty="0">
                <a:latin typeface="Microsoft YaHei"/>
                <a:ea typeface="Microsoft YaHei"/>
                <a:cs typeface="Microsoft YaHei"/>
              </a:rPr>
              <a:t> 2~6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秒且必须拍后等待，无法像扫码一样在取景流中实时画框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密集陈列易产生计数幻觉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多模态大模型在数十件密集叠放货架下易多算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漏算，缺乏确定性像素坐标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百万级调用下成本不可控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2万张/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天需</a:t>
            </a:r>
            <a:r>
              <a:rPr dirty="0">
                <a:latin typeface="Microsoft YaHei"/>
                <a:ea typeface="Microsoft YaHei"/>
                <a:cs typeface="Microsoft YaHei"/>
              </a:rPr>
              <a:t> 1.1万~4.5万元/月；10万张/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天需</a:t>
            </a:r>
            <a:r>
              <a:rPr dirty="0">
                <a:latin typeface="Microsoft YaHei"/>
                <a:ea typeface="Microsoft YaHei"/>
                <a:cs typeface="Microsoft YaHei"/>
              </a:rPr>
              <a:t> 5.4万~22.5万元/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月，ROI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差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2697480"/>
            <a:ext cx="3337560" cy="36118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19871" y="269748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1" y="2834640"/>
            <a:ext cx="297180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战略推荐：端云协同二段式</a:t>
            </a:r>
            <a:endParaRPr dirty="0"/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端侧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YOLO：快看</a:t>
            </a:r>
            <a:r>
              <a:rPr dirty="0">
                <a:latin typeface="Microsoft YaHei"/>
                <a:ea typeface="Microsoft YaHei"/>
                <a:cs typeface="Microsoft YaHei"/>
              </a:rPr>
              <a:t> &amp;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精准数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手机端打开相机</a:t>
            </a:r>
            <a:r>
              <a:rPr dirty="0">
                <a:latin typeface="Microsoft YaHei"/>
                <a:ea typeface="Microsoft YaHei"/>
                <a:cs typeface="Microsoft YaHei"/>
              </a:rPr>
              <a:t> 0.1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秒极速完成陈列打框、数量核销与拍摄防抖质检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云端大模型：深读</a:t>
            </a:r>
            <a:r>
              <a:rPr dirty="0">
                <a:latin typeface="Microsoft YaHei"/>
                <a:ea typeface="Microsoft YaHei"/>
                <a:cs typeface="Microsoft YaHei"/>
              </a:rPr>
              <a:t> &amp;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提建议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结合</a:t>
            </a:r>
            <a:r>
              <a:rPr dirty="0">
                <a:latin typeface="Microsoft YaHei"/>
                <a:ea typeface="Microsoft YaHei"/>
                <a:cs typeface="Microsoft YaHei"/>
              </a:rPr>
              <a:t> YOLO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统计数据与</a:t>
            </a:r>
            <a:r>
              <a:rPr dirty="0">
                <a:latin typeface="Microsoft YaHei"/>
                <a:ea typeface="Microsoft YaHei"/>
                <a:cs typeface="Microsoft YaHei"/>
              </a:rPr>
              <a:t> OCR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文本，云端大模型对门店做等级评分与整改建议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实现体验、精度与成本最优</a:t>
            </a:r>
            <a:endParaRPr dirty="0"/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一线业务员零等待高效作业，总部获取高质量结构化数据与商业洞察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3058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实测成果：加纳（GH）真实门店两次云端训练全部突破</a:t>
            </a:r>
            <a:r>
              <a:rPr dirty="0">
                <a:latin typeface="Microsoft YaHei"/>
                <a:ea typeface="Microsoft YaHei"/>
                <a:cs typeface="Microsoft YaHei"/>
              </a:rPr>
              <a:t> 90%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工业级阈值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035040" cy="5138928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669280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真实海外业务数据云端实测（AWS</a:t>
            </a:r>
            <a:r>
              <a:rPr dirty="0">
                <a:latin typeface="Microsoft YaHei"/>
                <a:ea typeface="Microsoft YaHei"/>
                <a:cs typeface="Microsoft YaHei"/>
              </a:rPr>
              <a:t> EC2 GPU）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>
                <a:latin typeface="Microsoft YaHei"/>
                <a:ea typeface="Microsoft YaHei"/>
                <a:cs typeface="Microsoft YaHei"/>
              </a:rPr>
              <a:t>样本集：加纳真实门店350张陈列图片（含强反光、倾斜、密集堆叠与多包遮挡）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5669280" cy="270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关键评估指标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第一次实测 (09-20)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yolo26m @ 960px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第二次实测 (09-22)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yolo26s @ 640px (轻量化)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精确率 (Precision)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92.15%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96.10% (↑ 3.95%)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定位精度 (mAP@50)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91.05%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90.51% (超高基线)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全阈值 (mAP@50-95)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59.37%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58.49%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>
                        <a:defRPr sz="1400" b="1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召回率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(Recall)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83.32%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81.24%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9745" y="4718304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关键技术结论</a:t>
            </a:r>
            <a:r>
              <a:rPr dirty="0"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两次实测</a:t>
            </a:r>
            <a:r>
              <a:rPr dirty="0">
                <a:latin typeface="Microsoft YaHei"/>
                <a:ea typeface="Microsoft YaHei"/>
                <a:cs typeface="Microsoft YaHei"/>
              </a:rPr>
              <a:t> Precision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与</a:t>
            </a:r>
            <a:r>
              <a:rPr dirty="0">
                <a:latin typeface="Microsoft YaHei"/>
                <a:ea typeface="Microsoft YaHei"/>
                <a:cs typeface="Microsoft YaHei"/>
              </a:rPr>
              <a:t> mAP50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均突破</a:t>
            </a:r>
            <a:r>
              <a:rPr dirty="0">
                <a:latin typeface="Microsoft YaHei"/>
                <a:ea typeface="Microsoft YaHei"/>
                <a:cs typeface="Microsoft YaHei"/>
              </a:rPr>
              <a:t> 90%，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模型与标签定义高度可靠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轻量模型</a:t>
            </a:r>
            <a:r>
              <a:rPr dirty="0">
                <a:latin typeface="Microsoft YaHei"/>
                <a:ea typeface="Microsoft YaHei"/>
                <a:cs typeface="Microsoft YaHei"/>
              </a:rPr>
              <a:t> yolo26s (640px)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精确率高达</a:t>
            </a:r>
            <a:r>
              <a:rPr dirty="0">
                <a:latin typeface="Microsoft YaHei"/>
                <a:ea typeface="Microsoft YaHei"/>
                <a:cs typeface="Microsoft YaHei"/>
              </a:rPr>
              <a:t> 96.10%，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误检极低，完全适合端侧实时扫描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已顺利导出</a:t>
            </a:r>
            <a:r>
              <a:rPr dirty="0">
                <a:latin typeface="Microsoft YaHei"/>
                <a:ea typeface="Microsoft YaHei"/>
                <a:cs typeface="Microsoft YaHei"/>
              </a:rPr>
              <a:t> Apple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CoreML</a:t>
            </a:r>
            <a:r>
              <a:rPr dirty="0">
                <a:latin typeface="Microsoft YaHei"/>
                <a:ea typeface="Microsoft YaHei"/>
                <a:cs typeface="Microsoft YaHei"/>
              </a:rPr>
              <a:t> (.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mlpackage</a:t>
            </a:r>
            <a:r>
              <a:rPr dirty="0">
                <a:latin typeface="Microsoft YaHei"/>
                <a:ea typeface="Microsoft YaHei"/>
                <a:cs typeface="Microsoft YaHei"/>
              </a:rPr>
              <a:t>)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与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ONNX，成功打通移动端原生运行闭环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280160"/>
            <a:ext cx="4510735" cy="5138928"/>
          </a:xfrm>
          <a:prstGeom prst="roundRect">
            <a:avLst>
              <a:gd name="adj" fmla="val 2407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1323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训练收敛指标与可视化曲线</a:t>
            </a:r>
            <a:endParaRPr dirty="0"/>
          </a:p>
        </p:txBody>
      </p:sp>
      <p:pic>
        <p:nvPicPr>
          <p:cNvPr id="11" name="Picture 10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83079"/>
            <a:ext cx="4229330" cy="21146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CBC72E-D817-35B3-11BD-81C243638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984" y="3996637"/>
            <a:ext cx="4363191" cy="2175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26AA48-0E2C-CA3A-E016-268006CF2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51" y="503443"/>
            <a:ext cx="2651014" cy="4621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B789B33-13E6-BD4A-5F24-CBC3E2756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65" y="529154"/>
            <a:ext cx="2526729" cy="45700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88CD068-A094-D1C6-508D-D582770CA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6990" y="503443"/>
            <a:ext cx="2634418" cy="46834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57B58E6-DB8A-C962-B76D-6E631E8BE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004" y="503444"/>
            <a:ext cx="2712777" cy="47161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B1B8FA-B6E0-26AE-5F58-FD67B58769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8603148" y="3327991"/>
            <a:ext cx="1981585" cy="353000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1A139EB-1E1F-3F39-9F23-18862BDBD6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0370" y="3270037"/>
            <a:ext cx="2120572" cy="37097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36B45B2-C0BE-10BD-EA19-191CDFD4D4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3928" y="3269055"/>
            <a:ext cx="2229791" cy="38277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E20E265-2D80-7480-BD2F-53713381C6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969" y="3701718"/>
            <a:ext cx="1860244" cy="326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6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680442"/>
            <a:ext cx="1069848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系统全景架构：端到端数据流转与自动化训练流水线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1. 业务与数据接入层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SFA/App 原生上传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业务员巡店拍照自动归档至 S3 原始图片池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图片版本与去重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对多国（加纳/赞比亚/科特迪瓦等）原图进行 Hash 去重与元数据沉淀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02736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2. 智能初筛与辅助标注层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RapidOCR 品牌初筛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毫秒级提取包装文字，快速过滤出包含目标品牌的图片，降噪 60%+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4176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YOLO-World 预标注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自动生成高质量候选框，Label Studio 人工复核效率提升 3 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36792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3. 自动化训练与评估层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EC2 GPU 自动化训练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一键生成标准 YOLO 数据集，触发 A10G/L40S 云端训练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指标自动化回归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自动生成结果 CSV、混淆矩阵，评估达到 90%+ 自动归档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33688" y="1280160"/>
            <a:ext cx="251460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70848" y="13716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4. 多端交付与推理应用层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0848" y="201168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62288" y="214884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端侧 30FPS 实时扫描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导出 iOS CoreML 及 Android NCNN/TFLite，手机端 0 成本秒级核销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4114800"/>
            <a:ext cx="2240280" cy="1920240"/>
          </a:xfrm>
          <a:prstGeom prst="roundRect">
            <a:avLst>
              <a:gd name="adj" fmla="val 4045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2288" y="4251960"/>
            <a:ext cx="2057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云端 GPU 批量审核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导出 TensorRT FP16，支持总部后台每秒数百张海量图片快速复审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140" y="661745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成本精算对比：自研</a:t>
            </a:r>
            <a:r>
              <a:rPr dirty="0">
                <a:latin typeface="Microsoft YaHei"/>
                <a:ea typeface="Microsoft YaHei"/>
                <a:cs typeface="Microsoft YaHei"/>
              </a:rPr>
              <a:t> YOLO vs DeepSeek / Qwen / GPT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多梯度</a:t>
            </a:r>
            <a:r>
              <a:rPr dirty="0">
                <a:latin typeface="Microsoft YaHei"/>
                <a:ea typeface="Microsoft YaHei"/>
                <a:cs typeface="Microsoft YaHei"/>
              </a:rPr>
              <a:t> API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费用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72140" y="1234440"/>
            <a:ext cx="11196083" cy="1009030"/>
          </a:xfrm>
          <a:prstGeom prst="roundRect">
            <a:avLst>
              <a:gd name="adj" fmla="val 0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1628" y="1307805"/>
            <a:ext cx="10898372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业务量基准：重点</a:t>
            </a:r>
            <a:r>
              <a:rPr dirty="0">
                <a:latin typeface="Microsoft YaHei"/>
                <a:ea typeface="Microsoft YaHei"/>
                <a:cs typeface="Microsoft YaHei"/>
              </a:rPr>
              <a:t> 4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国（加纳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赞比亚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科特迪瓦</a:t>
            </a:r>
            <a:r>
              <a:rPr dirty="0">
                <a:latin typeface="Microsoft YaHei"/>
                <a:ea typeface="Microsoft YaHei"/>
                <a:cs typeface="Microsoft YaHei"/>
              </a:rPr>
              <a:t>/坦桑尼亚）20,000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张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天</a:t>
            </a:r>
            <a:r>
              <a:rPr dirty="0">
                <a:latin typeface="Microsoft YaHei"/>
                <a:ea typeface="Microsoft YaHei"/>
                <a:cs typeface="Microsoft YaHei"/>
              </a:rPr>
              <a:t>  | 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未来全量</a:t>
            </a:r>
            <a:r>
              <a:rPr dirty="0">
                <a:latin typeface="Microsoft YaHei"/>
                <a:ea typeface="Microsoft YaHei"/>
                <a:cs typeface="Microsoft YaHei"/>
              </a:rPr>
              <a:t> 100,000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张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天</a:t>
            </a:r>
            <a:endParaRPr dirty="0">
              <a:latin typeface="Microsoft YaHei"/>
              <a:ea typeface="Microsoft YaHei"/>
              <a:cs typeface="Microsoft YaHei"/>
            </a:endParaRP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调研结论：DeepSeek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及通义千问</a:t>
            </a:r>
            <a:r>
              <a:rPr dirty="0">
                <a:latin typeface="Microsoft YaHei"/>
                <a:ea typeface="Microsoft YaHei"/>
                <a:cs typeface="Microsoft YaHei"/>
              </a:rPr>
              <a:t> Qwen-VL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为目前全球最便宜的多模态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API（约</a:t>
            </a:r>
            <a:r>
              <a:rPr dirty="0">
                <a:latin typeface="Microsoft YaHei"/>
                <a:ea typeface="Microsoft YaHei"/>
                <a:cs typeface="Microsoft YaHei"/>
              </a:rPr>
              <a:t> ¥0.003/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图</a:t>
            </a:r>
            <a:r>
              <a:rPr dirty="0">
                <a:latin typeface="Microsoft YaHei"/>
                <a:ea typeface="Microsoft YaHei"/>
                <a:cs typeface="Microsoft YaHei"/>
              </a:rPr>
              <a:t>）；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但全量规模下自研</a:t>
            </a:r>
            <a:r>
              <a:rPr dirty="0">
                <a:latin typeface="Microsoft YaHei"/>
                <a:ea typeface="Microsoft YaHei"/>
                <a:cs typeface="Microsoft YaHei"/>
              </a:rPr>
              <a:t> YOLO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每年仍可节省</a:t>
            </a:r>
            <a:r>
              <a:rPr dirty="0">
                <a:latin typeface="Microsoft YaHei"/>
                <a:ea typeface="Microsoft YaHei"/>
                <a:cs typeface="Microsoft YaHei"/>
              </a:rPr>
              <a:t> 10万~270万元，且端侧具备 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成本与</a:t>
            </a:r>
            <a:r>
              <a:rPr dirty="0">
                <a:latin typeface="Microsoft YaHei"/>
                <a:ea typeface="Microsoft YaHei"/>
                <a:cs typeface="Microsoft YaHei"/>
              </a:rPr>
              <a:t> 30FPS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实时扫码能力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923428"/>
              </p:ext>
            </p:extLst>
          </p:nvPr>
        </p:nvGraphicFramePr>
        <p:xfrm>
          <a:off x="372140" y="2331720"/>
          <a:ext cx="11196083" cy="3803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1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14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方案类型</a:t>
                      </a:r>
                      <a:endParaRPr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单图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API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成本</a:t>
                      </a:r>
                      <a:endParaRPr dirty="0"/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当前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4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国规模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(2万张/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未来全量规模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(10万张/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82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自研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YOLO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端侧手机识别</a:t>
                      </a:r>
                      <a:endParaRPr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手机算力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0 元 / 月 (年化 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0 元 / 月 (年化 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82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自研 YOLO 云端 GPU 批处理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~¥0.0002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约 105 元 / 月 (年化 1,260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约 315 元 / 月 (年化 3,780 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82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梯队 1: DeepSeek / Qwen-VL (极低价)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约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¥0.003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图</a:t>
                      </a:r>
                      <a:endParaRPr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¥1,800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年化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2.16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万元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¥9,000 元 / 月 (年化 10.8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82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梯队 2: GPT-4o-mini / Haiku (中档商业)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约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¥0.018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图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¥10,800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年化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13.0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万元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¥54,000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年化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64.8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万元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82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梯队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3: GPT-4o / Claude Sonnet (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旗舰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约 ¥0.075 / 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¥45,000 元 / 月 (年化 54.0 万元)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96B24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¥225,000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年化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270.0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万元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4669" y="666866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技术路径深度对比：自研 YOLO 与多模态大模型核心维度剖析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89067"/>
              </p:ext>
            </p:extLst>
          </p:nvPr>
        </p:nvGraphicFramePr>
        <p:xfrm>
          <a:off x="414669" y="1169786"/>
          <a:ext cx="11270510" cy="518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4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95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对比核心维度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自研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YOLO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检测模型路径</a:t>
                      </a:r>
                      <a:endParaRPr dirty="0"/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多模态大模型 (DeepSeek/GPT)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决策结论与影响</a:t>
                      </a:r>
                    </a:p>
                  </a:txBody>
                  <a:tcPr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57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手机相机实时取景扫描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(30 FPS 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毫秒级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支持：20~50ms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本地实时画框，现场秒级辅助</a:t>
                      </a:r>
                      <a:endParaRPr dirty="0"/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不支持：单次需 2~6 秒，必须拍完上传后盲等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一线操作体验分水岭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(YOLO 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完胜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0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密集商品精准计数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抗遮挡与重叠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极高准确率：像素级 Bounding Box，无计数幻觉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中弱/易幻觉：密集叠放时多算/漏算概率明显增加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陈列核销核心依据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(YOLO 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完胜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857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弱网与离线可用性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海外偏远门店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100%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离线可用：模型内置手机，无网照常核查</a:t>
                      </a:r>
                      <a:endParaRPr dirty="0"/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需等待联网同步：弱网时大模型接口超时阻塞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决定现场落地成功率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(YOLO 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完胜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0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2万~10万张/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天推理成本</a:t>
                      </a:r>
                      <a:endParaRPr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手机端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0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云端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~105~315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元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/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月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(边际成本接近0)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每月 1,800 元 ~ 22.5 万元 (每年消耗数万至数百万)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财务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ROI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差距巨大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(YOLO 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极具优势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857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场景理解与经营建议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不支持：仅输出商品框、类别与数量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极强：可深度理解陈列整洁度并输出经营建议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宏观决策与门店画像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(</a:t>
                      </a: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大模型占优</a:t>
                      </a:r>
                      <a:r>
                        <a:rPr sz="1600" dirty="0"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771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E2841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后续运维资产沉淀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持续收集疑难样本，Label</a:t>
                      </a: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 Studio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复核后增量重训</a:t>
                      </a:r>
                      <a:endParaRPr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latin typeface="Microsoft YaHei"/>
                          <a:ea typeface="Microsoft YaHei"/>
                          <a:cs typeface="Microsoft YaHei"/>
                        </a:rPr>
                        <a:t>维护 Prompt / Few-shot 规则，维护 MCP 接口与流控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56082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dirty="0">
                          <a:latin typeface="Microsoft YaHei"/>
                          <a:ea typeface="Microsoft YaHei"/>
                          <a:cs typeface="Microsoft YaHei"/>
                        </a:rPr>
                        <a:t>YOLO </a:t>
                      </a:r>
                      <a:r>
                        <a:rPr dirty="0" err="1">
                          <a:latin typeface="Microsoft YaHei"/>
                          <a:ea typeface="Microsoft YaHei"/>
                          <a:cs typeface="Microsoft YaHei"/>
                        </a:rPr>
                        <a:t>沉淀自研模型资产</a:t>
                      </a:r>
                      <a:endParaRPr dirty="0"/>
                    </a:p>
                    <a:p>
                      <a:pPr>
                        <a:defRPr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 sz="1600" dirty="0" err="1">
                          <a:latin typeface="Microsoft YaHei"/>
                          <a:ea typeface="Microsoft YaHei"/>
                          <a:cs typeface="Microsoft YaHei"/>
                        </a:rPr>
                        <a:t>大模型沉淀规则资产</a:t>
                      </a:r>
                      <a:endParaRPr sz="1600" dirty="0"/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终端实时识别剖析与手机端运行硬件最低制约要求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为什么手机相机实时扫描只能用 YOLO？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内存预算差距巨大：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YOLO 导出的 CoreML/NCNN 仅占 15MB~25MB 内存，而哪怕最小的多模态大模型也需占用 2GB~4GB 运行内存，手机极易崩溃闪退。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相机帧率预算仅 33ms：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实时取景流要求 30 FPS。YOLO 硬件加速仅需 20~50ms，多模态大模型单次推理需 2~6 秒，根本无法做取景器动态实时追踪。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现场防抖质检与即刻纠偏：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业务员在按下快门前即可在屏幕看到识别数量与绿框，若模糊/反光实时提醒重拍，杜绝事后返工。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密集计数的算法回归确定性：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YOLO 具备专用 Anchor-free 定位回归头，对重叠包装坐标确定，彻底避免大模型的文本数错幻觉。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手机端运行 YOLO 的硬件制约与配置要求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最低运行内存门槛 (RAM)：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最低要求 3GB RAM (建议 4GB 及以上)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YOLO 自身仅占用 ~20MB，但 Android 系统 + 相机预览流 + SFA App 基础运行需要 3GB 底线保证不被系统杀后台。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最低处理器要求 (CPU)：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64 位 ARMv8 架构（4核 / 8核）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如联发科 Helio P35 / G35、高通骁龙 450 / 665 及以上入门芯片，即可达到 10~15 FPS 识别帧率。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推荐流畅硬件配置：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4GB~6GB RAM + 独立 NPU/GPU 芯片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如高通骁龙 680 / 778G、天玑 700 等，端侧推理耗时可压至 20ms 以内，达到满帧 30 FPS 丝滑 AR 体验。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操作系统与相机要求：</a:t>
            </a:r>
          </a:p>
          <a:p>
            <a:pPr>
              <a:spcBef>
                <a:spcPts val="100"/>
              </a:spcBef>
              <a:defRPr sz="14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Android 8.0+ / iOS 13+，800万像素 AF 相机</a:t>
            </a:r>
          </a:p>
          <a:p>
            <a:pPr>
              <a:spcBef>
                <a:spcPts val="1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支持 Camera2 API 与自动对焦功能，确保货架细节清晰。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运维与演进要求：自研 YOLO 与多模态大模型两条路径的落地代价对比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自研 YOLO 路径的运维与工程要求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数据闭环回流机制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业务端上线后，收集业务员人工上报或置信度 &lt;0.4 的疑难误检漏检图片，持续回流到原始图片池。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标注平台与复核规范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维持已搭建的 Label Studio 标注规范，新引入品牌/SKU 时仅需标注 100~200 张典型图即可扩展新类别。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自动化 CI/CD 训练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基于已建立的自动化工作流，一键触发 GPU 训练、数据校验与自动回归评估。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移动端模型热更新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在 Flutter 端开发模型版本拉取接口，新版 best.pt 导出 CoreML/NCNN 后无需发版 App 即可静默热推模型。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多模态大模型路径的运维与协议要求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零模型自研负担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无需训练模型，无需管理 GPU 训练集群与 PyTorch 环境，基础设施极度轻量。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Prompt &amp; Few-Shot 维护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需持续调试和维护陈列打分与门店画像的 Prompt 模板，维护典型货架示例以保证规则对齐。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Skill / MCP 协议编排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维护 Model Context Protocol (MCP) 或 Agent Skill 接口，连接 CRM、商品主数据与图片库。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JSON Schema 强校验容错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大模型输出天然存在格式漂移风险，必须建立 Pydantic / JSON Schema 解析与异常重试机制。</a:t>
            </a:r>
          </a:p>
          <a:p>
            <a:pPr>
              <a:spcBef>
                <a:spcPts val="8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API 成本与并发流控看板</a:t>
            </a:r>
          </a:p>
          <a:p>
            <a:pPr>
              <a:spcBef>
                <a:spcPts val="2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监控供应商 API 配额、Token 消耗速率与响应超时，配置多供应商容灾降级方案。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战略落地推荐：『端侧 YOLO 极速检测 + 云端大模型深度决策』端云协同架构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【前端】第一段：端侧轻量 YOLO 实时识别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定位：极致的实时交互、精准计数与防抖质检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手机相机实时扫码式识别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打开 Flutter 相机，CoreML/NCNN 毫秒级画框追踪，显示当前识别到的包装数量与类别。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现场拍摄质量拦截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实时检测模糊、反光、过曝、角度倾斜，在拍摄瞬间提示业务员重拍，从源头保证数据质量。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本品与竞品即刻核销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现场 0 秒返回本品陈列数、竞品陈列数与排面占比，无网络也能即刻完成基础合规巡查。</a:t>
            </a:r>
          </a:p>
          <a:p>
            <a:pPr>
              <a:spcBef>
                <a:spcPts val="800"/>
              </a:spcBef>
              <a:defRPr sz="14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0 云端算力与额外流量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全部在手机端运行，不产生任何后端 GPU 计费与服务器吞吐压力。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42255" cy="5029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8463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【后端】第二段：云端多模态 + 规则引擎深度赋能</a:t>
            </a:r>
          </a:p>
          <a:p>
            <a:pPr>
              <a:spcBef>
                <a:spcPts val="400"/>
              </a:spcBef>
              <a:defRPr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定位：多维场景理解、陈列等级评分与经营决策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多维数据融合输入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将端侧 YOLO 统计数量 + OCR 价签识别文本 + 门店整图结构化汇总送入云端。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AI 智能陈列合规评分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多模态大模型结合业务规则，对货架饱满度、黄金陈列位、物料布置给出客观分值。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AI 自动生成门店画像与等级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反推门店商圈等级、经营能力与分销潜力，免除基层访销员主观误判。</a:t>
            </a:r>
          </a:p>
          <a:p>
            <a:pPr>
              <a:spcBef>
                <a:spcPts val="800"/>
              </a:spcBef>
              <a:defRPr sz="14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输出个性化整改与经营建议</a:t>
            </a:r>
          </a:p>
          <a:p>
            <a:pPr>
              <a:spcBef>
                <a:spcPts val="1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   自动向业务员及督导推送整改话术与补货推荐，直接反哺 CRM 2.0。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推进计划：分阶段商业化落地路线图与近期工作规划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37560" cy="3886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37560" cy="82296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2971800" cy="27315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Phase 1: 4国试点闭环 (1~2个月)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加纳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赞比亚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科特迪瓦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坦桑尼亚端侧试点</a:t>
            </a:r>
            <a:r>
              <a:rPr lang="zh-CN" altLang="en-US" sz="1400" b="1" dirty="0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rPr>
              <a:t>重点品类</a:t>
            </a:r>
            <a:endParaRPr sz="1400" b="1" dirty="0">
              <a:solidFill>
                <a:srgbClr val="0E2841"/>
              </a:solidFill>
            </a:endParaRP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Flutter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手机端集成</a:t>
            </a:r>
            <a:r>
              <a:rPr dirty="0">
                <a:latin typeface="Microsoft YaHei"/>
                <a:ea typeface="Microsoft YaHei"/>
                <a:cs typeface="Microsoft YaHei"/>
              </a:rPr>
              <a:t> YOLO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CoreML</a:t>
            </a:r>
            <a:r>
              <a:rPr dirty="0">
                <a:latin typeface="Microsoft YaHei"/>
                <a:ea typeface="Microsoft YaHei"/>
                <a:cs typeface="Microsoft YaHei"/>
              </a:rPr>
              <a:t>/NCNN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插件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在重点</a:t>
            </a:r>
            <a:r>
              <a:rPr dirty="0">
                <a:latin typeface="Microsoft YaHei"/>
                <a:ea typeface="Microsoft YaHei"/>
                <a:cs typeface="Microsoft YaHei"/>
              </a:rPr>
              <a:t> 4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国销售团队开启相机实时扫描功能试点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打通端侧『低置信度</a:t>
            </a:r>
            <a:r>
              <a:rPr dirty="0">
                <a:latin typeface="Microsoft YaHei"/>
                <a:ea typeface="Microsoft YaHei"/>
                <a:cs typeface="Microsoft YaHei"/>
              </a:rPr>
              <a:t>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误检图片』自动化回流管道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•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验证一线业务员巡店时间是否由</a:t>
            </a:r>
            <a:r>
              <a:rPr dirty="0">
                <a:latin typeface="Microsoft YaHei"/>
                <a:ea typeface="Microsoft YaHei"/>
                <a:cs typeface="Microsoft YaHei"/>
              </a:rPr>
              <a:t> 3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分钟缩短至</a:t>
            </a:r>
            <a:r>
              <a:rPr dirty="0">
                <a:latin typeface="Microsoft YaHei"/>
                <a:ea typeface="Microsoft YaHei"/>
                <a:cs typeface="Microsoft YaHei"/>
              </a:rPr>
              <a:t> 20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秒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425696" y="1280160"/>
            <a:ext cx="3337560" cy="3886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25696" y="1280160"/>
            <a:ext cx="3337560" cy="8229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417320"/>
            <a:ext cx="29718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Phase 2: 全量品类推广 (3~4个月)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日均 10 万张/天 全量覆盖与流水线自动化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扩展至 Softcare, Kleesoft, Doffi, 洗涤, 香皂等全品类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启用自动化增量重训流水线，每周无感升级模型权重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建立多品牌、多国家、多规格的统一模型版本资产库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全面替代人工后台初审，自动化审核率达 90%+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1" y="1280160"/>
            <a:ext cx="3337560" cy="388620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19871" y="1280160"/>
            <a:ext cx="3337560" cy="82296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1" y="1417320"/>
            <a:ext cx="2971800" cy="3611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96B24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Phase 3: 智能大脑升级 (5~6个月)</a:t>
            </a:r>
          </a:p>
          <a:p>
            <a:pPr>
              <a:spcBef>
                <a:spcPts val="300"/>
              </a:spcBef>
              <a:defRPr sz="14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接入云端多模态形成决策大脑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云端接入 DeepSeek / Qwen-VL 多模态大模型与规则引擎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上线 AI 自动评估门店等级与陈列评分功能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与 CRM 2.0 深度融合，输出千店千面的进货与整改建议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latin typeface="Microsoft YaHei"/>
                <a:ea typeface="Microsoft YaHei"/>
                <a:cs typeface="Microsoft YaHei"/>
              </a:rPr>
              <a:t>• 形成从『端侧快核销』到『总部智决策』的完整商业闭环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1005840"/>
          </a:xfrm>
          <a:prstGeom prst="roundRect">
            <a:avLst>
              <a:gd name="adj" fmla="val 4045"/>
            </a:avLst>
          </a:prstGeom>
          <a:solidFill>
            <a:srgbClr val="F0F9FF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32720" cy="805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2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>
                <a:latin typeface="Microsoft YaHei"/>
                <a:ea typeface="Microsoft YaHei"/>
                <a:cs typeface="Microsoft YaHei"/>
              </a:rPr>
              <a:t>建议决策项</a:t>
            </a:r>
            <a:r>
              <a:rPr dirty="0"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1.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批准启动</a:t>
            </a:r>
            <a:r>
              <a:rPr dirty="0">
                <a:latin typeface="Microsoft YaHei"/>
                <a:ea typeface="Microsoft YaHei"/>
                <a:cs typeface="Microsoft YaHei"/>
              </a:rPr>
              <a:t> Phase 1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手机端（Flutter）实时扫描插件开发与</a:t>
            </a:r>
            <a:r>
              <a:rPr dirty="0">
                <a:latin typeface="Microsoft YaHei"/>
                <a:ea typeface="Microsoft YaHei"/>
                <a:cs typeface="Microsoft YaHei"/>
              </a:rPr>
              <a:t> 4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国试点</a:t>
            </a:r>
            <a:r>
              <a:rPr dirty="0">
                <a:latin typeface="Microsoft YaHei"/>
                <a:ea typeface="Microsoft YaHei"/>
                <a:cs typeface="Microsoft YaHei"/>
              </a:rPr>
              <a:t>； </a:t>
            </a:r>
            <a:endParaRPr lang="en-US" dirty="0"/>
          </a:p>
          <a:p>
            <a:pPr>
              <a:spcBef>
                <a:spcPts val="200"/>
              </a:spcBef>
              <a:defRPr sz="14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latin typeface="Microsoft YaHei"/>
                <a:ea typeface="Microsoft YaHei"/>
                <a:cs typeface="Microsoft YaHei"/>
              </a:rPr>
              <a:t>2.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同意设立常态化样本回流与</a:t>
            </a:r>
            <a:r>
              <a:rPr dirty="0">
                <a:latin typeface="Microsoft YaHei"/>
                <a:ea typeface="Microsoft YaHei"/>
                <a:cs typeface="Microsoft YaHei"/>
              </a:rPr>
              <a:t> Label Studio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快速复核机制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KSQ_Pi5k2ZEu22YOXxpg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>
          <a:noFill/>
        </a:ln>
      </a:spPr>
      <a:bodyPr rtlCol="0" anchor="ctr"/>
      <a:lstStyle>
        <a:defPPr marL="342900" indent="-342900" algn="l" defTabSz="914400" eaLnBrk="1" fontAlgn="ctr" hangingPunct="1">
          <a:lnSpc>
            <a:spcPct val="150000"/>
          </a:lnSpc>
          <a:spcBef>
            <a:spcPts val="0"/>
          </a:spcBef>
          <a:spcAft>
            <a:spcPts val="0"/>
          </a:spcAft>
          <a:buFont typeface="+mj-lt"/>
          <a:buAutoNum type="arabicPeriod"/>
          <a:defRPr sz="1600" dirty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7431</TotalTime>
  <Words>1500</Words>
  <Application>Microsoft Macintosh PowerPoint</Application>
  <PresentationFormat>宽屏</PresentationFormat>
  <Paragraphs>231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Microsoft YaHei</vt:lpstr>
      <vt:lpstr>Microsoft YaHei</vt:lpstr>
      <vt:lpstr>Arial</vt:lpstr>
      <vt:lpstr>IBM Plex Sans</vt:lpstr>
      <vt:lpstr>1_Office 主题​​</vt:lpstr>
      <vt:lpstr>think-cell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biao guo</dc:creator>
  <cp:lastModifiedBy>Biao Guo</cp:lastModifiedBy>
  <cp:revision>178</cp:revision>
  <dcterms:created xsi:type="dcterms:W3CDTF">2025-12-03T05:05:39Z</dcterms:created>
  <dcterms:modified xsi:type="dcterms:W3CDTF">2026-09-23T06:08:46Z</dcterms:modified>
</cp:coreProperties>
</file>