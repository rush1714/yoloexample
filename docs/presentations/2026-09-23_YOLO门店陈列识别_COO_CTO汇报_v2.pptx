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645920" cy="914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291840" cy="411480"/>
          </a:xfrm>
          <a:prstGeom prst="roundRect">
            <a:avLst/>
          </a:prstGeom>
          <a:solidFill>
            <a:srgbClr val="163554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COO &amp; CTO 战略与技术汇报 (v2.0)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PingFang SC"/>
              </a:defRPr>
            </a:pPr>
            <a:r>
              <a:t>门店陈列 AI 智能识别方案汇报</a:t>
            </a:r>
          </a:p>
          <a:p>
            <a:pPr>
              <a:spcBef>
                <a:spcPts val="1400"/>
              </a:spcBef>
              <a:defRPr sz="1900">
                <a:solidFill>
                  <a:srgbClr val="0F9ED5"/>
                </a:solidFill>
                <a:latin typeface="PingFang SC"/>
              </a:defRPr>
            </a:pPr>
            <a:r>
              <a:t>聚焦加纳/赞比亚/科特迪瓦/坦桑尼亚等 4 国（20,000张/天）及未来全量（100,000张/天）的落地决策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37560" cy="1737360"/>
          </a:xfrm>
          <a:prstGeom prst="roundRect">
            <a:avLst/>
          </a:prstGeom>
          <a:solidFill>
            <a:srgbClr val="16355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PingFang SC"/>
              </a:defRPr>
            </a:pPr>
            <a:r>
              <a:t>实测精度突破 96%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  <a:latin typeface="PingFang SC"/>
              </a:defRPr>
            </a:pPr>
            <a:r>
              <a:t>加纳真实货架实测 Precision 达 96.10%，mAP50 突破 90.51%，视觉识别完全可行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3931920"/>
            <a:ext cx="3337560" cy="1737360"/>
          </a:xfrm>
          <a:prstGeom prst="roundRect">
            <a:avLst/>
          </a:prstGeom>
          <a:solidFill>
            <a:srgbClr val="163554"/>
          </a:solidFill>
          <a:ln w="15240">
            <a:solidFill>
              <a:srgbClr val="0F9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54296" y="411480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9ED5"/>
                </a:solidFill>
                <a:latin typeface="PingFang SC"/>
              </a:defRPr>
            </a:pPr>
            <a:r>
              <a:t>端侧 0 成本实时扫描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  <a:latin typeface="PingFang SC"/>
              </a:defRPr>
            </a:pPr>
            <a:r>
              <a:t>支持手机本地 30FPS 实时扫码式识别，0 新增服务器算力成本，100% 离线可用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3931920"/>
            <a:ext cx="3337560" cy="1737360"/>
          </a:xfrm>
          <a:prstGeom prst="roundRect">
            <a:avLst/>
          </a:prstGeom>
          <a:solidFill>
            <a:srgbClr val="163554"/>
          </a:solidFill>
          <a:ln w="1524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1" y="411480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97132"/>
                </a:solidFill>
                <a:latin typeface="PingFang SC"/>
              </a:defRPr>
            </a:pPr>
            <a:r>
              <a:t>年化节省百万级成本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  <a:latin typeface="PingFang SC"/>
              </a:defRPr>
            </a:pPr>
            <a:r>
              <a:t>相比多模态大模型 API，在 2万~10万张/天规模下每年节省 15万~260万元 费用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739978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rPr dirty="0" err="1"/>
              <a:t>汇报主体：视觉</a:t>
            </a:r>
            <a:r>
              <a:rPr dirty="0"/>
              <a:t> AI </a:t>
            </a:r>
            <a:r>
              <a:rPr dirty="0" err="1"/>
              <a:t>研项目组</a:t>
            </a:r>
            <a:r>
              <a:rPr dirty="0"/>
              <a:t>  |  日期：2026-09-23  |  </a:t>
            </a:r>
            <a:r>
              <a:rPr dirty="0" err="1"/>
              <a:t>业务场景：加纳</a:t>
            </a:r>
            <a:r>
              <a:rPr dirty="0"/>
              <a:t>/</a:t>
            </a:r>
            <a:r>
              <a:rPr dirty="0" err="1"/>
              <a:t>赞比亚</a:t>
            </a:r>
            <a:r>
              <a:rPr dirty="0"/>
              <a:t>/</a:t>
            </a:r>
            <a:r>
              <a:rPr dirty="0" err="1"/>
              <a:t>科特迪瓦</a:t>
            </a:r>
            <a:r>
              <a:rPr dirty="0"/>
              <a:t>/</a:t>
            </a:r>
            <a:r>
              <a:rPr dirty="0" err="1"/>
              <a:t>坦桑尼亚等海外门店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rPr lang="zh-CN" altLang="en-US" dirty="0"/>
              <a:t>核心结论先行：</a:t>
            </a:r>
            <a:r>
              <a:rPr dirty="0"/>
              <a:t>YOLO </a:t>
            </a:r>
            <a:r>
              <a:rPr dirty="0" err="1"/>
              <a:t>自研方案商业与技术可行性已得到双重确立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13258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E2841"/>
                </a:solidFill>
              </a:defRPr>
            </a:pPr>
            <a:r>
              <a:rPr dirty="0"/>
              <a:t>🎯 </a:t>
            </a:r>
            <a:r>
              <a:rPr dirty="0" err="1"/>
              <a:t>战略总结论：YOLO</a:t>
            </a:r>
            <a:r>
              <a:rPr dirty="0"/>
              <a:t> </a:t>
            </a:r>
            <a:r>
              <a:rPr dirty="0" err="1"/>
              <a:t>方案完全可行，是兼顾实时交互体验与千万级降本的最佳选择</a:t>
            </a:r>
            <a:endParaRPr dirty="0"/>
          </a:p>
          <a:p>
            <a:pPr>
              <a:spcBef>
                <a:spcPts val="600"/>
              </a:spcBef>
              <a:defRPr sz="1350">
                <a:solidFill>
                  <a:srgbClr val="334155"/>
                </a:solidFill>
              </a:defRPr>
            </a:pPr>
            <a:r>
              <a:rPr dirty="0" err="1"/>
              <a:t>真实门店实测达到</a:t>
            </a:r>
            <a:r>
              <a:rPr dirty="0"/>
              <a:t> 96.10% </a:t>
            </a:r>
            <a:r>
              <a:rPr dirty="0" err="1"/>
              <a:t>精确度与</a:t>
            </a:r>
            <a:r>
              <a:rPr dirty="0"/>
              <a:t> 90.5%+ mAP50。在重点 4 国（20,000张/天）及未来全量（100,000张/</a:t>
            </a:r>
            <a:r>
              <a:rPr dirty="0" err="1"/>
              <a:t>天）业务下，YOLO</a:t>
            </a:r>
            <a:r>
              <a:rPr dirty="0"/>
              <a:t> </a:t>
            </a:r>
            <a:r>
              <a:rPr dirty="0" err="1"/>
              <a:t>端侧识别带来</a:t>
            </a:r>
            <a:r>
              <a:rPr dirty="0"/>
              <a:t> 30FPS </a:t>
            </a:r>
            <a:r>
              <a:rPr dirty="0" err="1"/>
              <a:t>实时扫码体验且服务器算力成本为</a:t>
            </a:r>
            <a:r>
              <a:rPr dirty="0"/>
              <a:t> $0；相比直接调用多模态大模型 </a:t>
            </a:r>
            <a:r>
              <a:rPr dirty="0" err="1"/>
              <a:t>API，每年可节省</a:t>
            </a:r>
            <a:r>
              <a:rPr dirty="0"/>
              <a:t> 15万 ~ 260万元 </a:t>
            </a:r>
            <a:r>
              <a:rPr dirty="0" err="1"/>
              <a:t>费用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33756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3337560" cy="8229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971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56082"/>
                </a:solidFill>
              </a:defRPr>
            </a:pPr>
            <a:r>
              <a:rPr dirty="0" err="1"/>
              <a:t>为什么核心必须自研</a:t>
            </a:r>
            <a:r>
              <a:rPr dirty="0"/>
              <a:t> YOLO？</a:t>
            </a:r>
          </a:p>
          <a:p>
            <a:pPr>
              <a:spcBef>
                <a:spcPts val="1000"/>
              </a:spcBef>
              <a:defRPr sz="13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高精确度</a:t>
            </a:r>
            <a:r>
              <a:rPr dirty="0"/>
              <a:t> (96.10%)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rPr dirty="0" err="1"/>
              <a:t>在海外复杂光照、商品密集叠放与反光场景下，精确识别并统计目标包装，误检率极低</a:t>
            </a:r>
            <a:r>
              <a:rPr dirty="0"/>
              <a:t>。</a:t>
            </a:r>
          </a:p>
          <a:p>
            <a:pPr>
              <a:spcBef>
                <a:spcPts val="1000"/>
              </a:spcBef>
              <a:defRPr sz="13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真机实时扫描</a:t>
            </a:r>
            <a:r>
              <a:rPr dirty="0"/>
              <a:t> (30 FPS)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rPr dirty="0" err="1"/>
              <a:t>支持</a:t>
            </a:r>
            <a:r>
              <a:rPr dirty="0"/>
              <a:t> </a:t>
            </a:r>
            <a:r>
              <a:rPr dirty="0" err="1"/>
              <a:t>CoreML</a:t>
            </a:r>
            <a:r>
              <a:rPr dirty="0"/>
              <a:t>/NCNN </a:t>
            </a:r>
            <a:r>
              <a:rPr dirty="0" err="1"/>
              <a:t>手机本地运行，在相机取景流中实时画框计数，业务员现场秒级核验</a:t>
            </a:r>
            <a:r>
              <a:rPr dirty="0"/>
              <a:t>。</a:t>
            </a:r>
          </a:p>
          <a:p>
            <a:pPr>
              <a:spcBef>
                <a:spcPts val="1000"/>
              </a:spcBef>
              <a:defRPr sz="13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年化节省</a:t>
            </a:r>
            <a:r>
              <a:rPr dirty="0"/>
              <a:t> 15万~260万元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rPr dirty="0" err="1"/>
              <a:t>利用手机端算力或云端毫秒级批处理，单图算力成本极低，避免海量大模型</a:t>
            </a:r>
            <a:r>
              <a:rPr dirty="0"/>
              <a:t> API </a:t>
            </a:r>
            <a:r>
              <a:rPr dirty="0" err="1"/>
              <a:t>吞噬利润</a:t>
            </a:r>
            <a:r>
              <a:rPr dirty="0"/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697480"/>
            <a:ext cx="333756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25696" y="2697480"/>
            <a:ext cx="333756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880360"/>
            <a:ext cx="2971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为什么不直接全量依赖大模型？</a:t>
            </a:r>
          </a:p>
          <a:p>
            <a:pPr>
              <a:spcBef>
                <a:spcPts val="1000"/>
              </a:spcBef>
              <a:defRPr sz="1300" b="1">
                <a:solidFill>
                  <a:srgbClr val="0E2841"/>
                </a:solidFill>
              </a:defRPr>
            </a:pPr>
            <a:r>
              <a:t>• 无法做到取景框实时扫码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大模型单图需 2~6 秒且必须拍后等待，无法像扫码一样在相机取景流中实时显示检测框。</a:t>
            </a:r>
          </a:p>
          <a:p>
            <a:pPr>
              <a:spcBef>
                <a:spcPts val="1000"/>
              </a:spcBef>
              <a:defRPr sz="1300" b="1">
                <a:solidFill>
                  <a:srgbClr val="0E2841"/>
                </a:solidFill>
              </a:defRPr>
            </a:pPr>
            <a:r>
              <a:t>• 密集陈列易产生计数幻觉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多模态大模型在数十件密集叠放货架场景下，计数容易多算/漏算，缺乏确定性像素坐标。</a:t>
            </a:r>
          </a:p>
          <a:p>
            <a:pPr>
              <a:spcBef>
                <a:spcPts val="1000"/>
              </a:spcBef>
              <a:defRPr sz="1300" b="1">
                <a:solidFill>
                  <a:srgbClr val="0E2841"/>
                </a:solidFill>
              </a:defRPr>
            </a:pPr>
            <a:r>
              <a:t>• 百万级调用下成本不可控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2万张/天需 1.3万~4.2万元/月；10万张/天需 6.5万~21万元/月，长期 ROI 极差。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2697480"/>
            <a:ext cx="333756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19871" y="2697480"/>
            <a:ext cx="3337560" cy="82296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1" y="2880360"/>
            <a:ext cx="2971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96B24"/>
                </a:solidFill>
              </a:defRPr>
            </a:pPr>
            <a:r>
              <a:t>战略推荐：端云协同二段式</a:t>
            </a:r>
          </a:p>
          <a:p>
            <a:pPr>
              <a:spcBef>
                <a:spcPts val="1000"/>
              </a:spcBef>
              <a:defRPr sz="1300" b="1">
                <a:solidFill>
                  <a:srgbClr val="0E2841"/>
                </a:solidFill>
              </a:defRPr>
            </a:pPr>
            <a:r>
              <a:t>• 端侧 YOLO：快看 &amp; 精准数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手机端打开相机 0.1 秒极速完成陈列打框、数量核销与拍摄防抖防模糊质检。</a:t>
            </a:r>
          </a:p>
          <a:p>
            <a:pPr>
              <a:spcBef>
                <a:spcPts val="1000"/>
              </a:spcBef>
              <a:defRPr sz="1300" b="1">
                <a:solidFill>
                  <a:srgbClr val="0E2841"/>
                </a:solidFill>
              </a:defRPr>
            </a:pPr>
            <a:r>
              <a:t>• 云端大模型：深读 &amp; 提建议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结合 YOLO 统计数据与 OCR 文本，云端大模型对门店做陈列等级评分与经营整改建议。</a:t>
            </a:r>
          </a:p>
          <a:p>
            <a:pPr>
              <a:spcBef>
                <a:spcPts val="1000"/>
              </a:spcBef>
              <a:defRPr sz="1300" b="1">
                <a:solidFill>
                  <a:srgbClr val="0E2841"/>
                </a:solidFill>
              </a:defRPr>
            </a:pPr>
            <a:r>
              <a:t>• 实现体验、精度与成本最优解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一线业务员零等待高效作业，总部获取高质量结构化数据与深度商业洞察。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实测成果：加纳（GH）真实门店两次云端训练全部突破 90% 工业级阈值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603504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6692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</a:defRPr>
            </a:pPr>
            <a:r>
              <a:t>📊 真实海外业务数据云端实测（AWS EC2 GPU）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样本集：加纳真实门店 350 张陈列图片（含强反光、倾斜、密集堆叠与多包遮挡）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5669280" cy="212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关键评估指标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第一次实测 (09-20)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yolo26m @ 960px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第二次实测 (09-22)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yolo26s @ 640px (轻量化)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精确率 (Precision)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96B24"/>
                          </a:solidFill>
                        </a:defRPr>
                      </a:pPr>
                      <a:r>
                        <a:t>96.10% (↑ 3.95%)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定位精度 (mAP@50)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2841"/>
                          </a:solidFill>
                        </a:defRPr>
                      </a:pPr>
                      <a:r>
                        <a:t>90.51% (超高基线)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全阈值 (mAP@50-95)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2841"/>
                          </a:solidFill>
                        </a:defRPr>
                      </a:pPr>
                      <a:r>
                        <a:t>58.49%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召回率 (Recall)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83.32%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2841"/>
                          </a:solidFill>
                        </a:defRPr>
                      </a:pPr>
                      <a:r>
                        <a:t>81.24%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29768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6082"/>
                </a:solidFill>
              </a:defRPr>
            </a:pPr>
            <a:r>
              <a:t>💡 关键技术结论：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两次实测 Precision 与 mAP50 均稳定突破 90%，模型与标签定义高度可靠。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轻量模型 yolo26s (640px) 精确率高达 96.10%，误检极低，完全适合端侧实时扫描。</a:t>
            </a:r>
          </a:p>
          <a:p>
            <a:pPr>
              <a:spcBef>
                <a:spcPts val="500"/>
              </a:spcBef>
              <a:defRPr sz="1150">
                <a:solidFill>
                  <a:srgbClr val="334155"/>
                </a:solidFill>
              </a:defRPr>
            </a:pPr>
            <a:r>
              <a:t>• 已顺利导出 Apple CoreML (.mlpackage) 与 ONNX，成功打通移动端原生运行闭环。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234440"/>
            <a:ext cx="451073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📈 训练收敛指标与可视化曲线</a:t>
            </a:r>
          </a:p>
        </p:txBody>
      </p:sp>
      <p:pic>
        <p:nvPicPr>
          <p:cNvPr id="10" name="Picture 9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80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系统全景架构：端到端工业级数据闭环与全自动化训练管线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0116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371600"/>
            <a:ext cx="438912" cy="438912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2841"/>
                </a:solidFill>
              </a:defRPr>
            </a:pPr>
            <a:r>
              <a:t>阶段 0：数据沉淀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海量原图接入池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737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App/业务系统原生上传的整改后原图自动归档入库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建立原始图片版本管理与 Hash 去重机制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支持多国多业务线隔离存储与统一管理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234440"/>
            <a:ext cx="20116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044951" y="1371600"/>
            <a:ext cx="438912" cy="438912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37160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56082"/>
                </a:solidFill>
              </a:defRPr>
            </a:pPr>
            <a:r>
              <a:t>阶段 1：智能初筛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OCR 辅助品牌匹配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4951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1" y="2057400"/>
            <a:ext cx="1737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RapidOCR / PP-OCR 毫秒级提取包装文字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本地视觉大模型辅助模糊商标与别名识别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精准过滤出含目标品牌图片，降噪 60%+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234440"/>
            <a:ext cx="20116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221224" y="1371600"/>
            <a:ext cx="438912" cy="438912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4" y="137160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</a:defRPr>
            </a:pPr>
            <a:r>
              <a:t>阶段 2：预标注复核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YOLO-World / Label Studio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21224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1224" y="2057400"/>
            <a:ext cx="1737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YOLO-World 开放词汇 + YOLOE 视觉提示预标注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自动生成高质量候选框与预测置信度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Label Studio 人工极速复核，效率提升 3 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234440"/>
            <a:ext cx="20116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97496" y="1371600"/>
            <a:ext cx="438912" cy="438912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5" y="137160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96B24"/>
                </a:solidFill>
              </a:defRPr>
            </a:pPr>
            <a:r>
              <a:t>阶段 3：自动化训练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EC2 GPU 自动化训练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97496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97496" y="2057400"/>
            <a:ext cx="1737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一键生成 YOLO 标准格式 images/labels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AWS EC2 (A10G/L40S) 自动化触发训练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自动产出指标 CSV、混淆矩阵与评估报告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8" y="1234440"/>
            <a:ext cx="20116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73768" y="1371600"/>
            <a:ext cx="438912" cy="438912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137160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9ED5"/>
                </a:solidFill>
              </a:defRPr>
            </a:pPr>
            <a:r>
              <a:t>阶段 4：多端交付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端侧与云端多格式导出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73768" y="1965960"/>
            <a:ext cx="1737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73768" y="2057400"/>
            <a:ext cx="1737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导出 iOS CoreML (.mlpackage) 供手机实时扫描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导出 NCNN / LiteRT 供 Android 离线部署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导出 TensorRT FP16 供服务端千张/秒批量推理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业务规模与成本精算：重点 4 国（20,000张/天）与全量（100,000张/天）成本对比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10058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E2841"/>
                </a:solidFill>
              </a:defRPr>
            </a:pPr>
            <a:r>
              <a:rPr dirty="0"/>
              <a:t>📈 </a:t>
            </a:r>
            <a:r>
              <a:rPr dirty="0" err="1"/>
              <a:t>业务量基准：重点</a:t>
            </a:r>
            <a:r>
              <a:rPr dirty="0"/>
              <a:t> 4 </a:t>
            </a:r>
            <a:r>
              <a:rPr dirty="0" err="1"/>
              <a:t>国（加纳</a:t>
            </a:r>
            <a:r>
              <a:rPr dirty="0"/>
              <a:t>/</a:t>
            </a:r>
            <a:r>
              <a:rPr dirty="0" err="1"/>
              <a:t>赞比亚</a:t>
            </a:r>
            <a:r>
              <a:rPr dirty="0"/>
              <a:t>/</a:t>
            </a:r>
            <a:r>
              <a:rPr dirty="0" err="1"/>
              <a:t>科特迪瓦</a:t>
            </a:r>
            <a:r>
              <a:rPr dirty="0"/>
              <a:t>/坦桑尼亚）20,000 </a:t>
            </a:r>
            <a:r>
              <a:rPr dirty="0" err="1"/>
              <a:t>张</a:t>
            </a:r>
            <a:r>
              <a:rPr dirty="0"/>
              <a:t>/</a:t>
            </a:r>
            <a:r>
              <a:rPr dirty="0" err="1"/>
              <a:t>天</a:t>
            </a:r>
            <a:r>
              <a:rPr dirty="0"/>
              <a:t> | </a:t>
            </a:r>
            <a:r>
              <a:rPr dirty="0" err="1"/>
              <a:t>未来全量</a:t>
            </a:r>
            <a:r>
              <a:rPr dirty="0"/>
              <a:t> 100,000 </a:t>
            </a:r>
            <a:r>
              <a:rPr dirty="0" err="1"/>
              <a:t>张</a:t>
            </a:r>
            <a:r>
              <a:rPr dirty="0"/>
              <a:t>/</a:t>
            </a:r>
            <a:r>
              <a:rPr dirty="0" err="1"/>
              <a:t>天</a:t>
            </a:r>
            <a:endParaRPr dirty="0"/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</a:defRPr>
            </a:pPr>
            <a:r>
              <a:rPr dirty="0" err="1"/>
              <a:t>注：App</a:t>
            </a:r>
            <a:r>
              <a:rPr dirty="0"/>
              <a:t> </a:t>
            </a:r>
            <a:r>
              <a:rPr dirty="0" err="1"/>
              <a:t>原本就会上传巡店照片，因此图片上传流量与</a:t>
            </a:r>
            <a:r>
              <a:rPr dirty="0"/>
              <a:t> S3 </a:t>
            </a:r>
            <a:r>
              <a:rPr dirty="0" err="1"/>
              <a:t>存储属于已有基线开销。以下重点对比</a:t>
            </a:r>
            <a:r>
              <a:rPr dirty="0"/>
              <a:t> AI </a:t>
            </a:r>
            <a:r>
              <a:rPr dirty="0" err="1"/>
              <a:t>模型的训练与推理算力成本差异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21208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56082"/>
                </a:solidFill>
              </a:defRPr>
            </a:pPr>
            <a:r>
              <a:t>🌍 当前核心 4 国（20,000 张/天 = 60 万张/月）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自研 YOLO 端侧推理：</a:t>
            </a:r>
          </a:p>
          <a:p>
            <a:pPr>
              <a:spcBef>
                <a:spcPts val="100"/>
              </a:spcBef>
              <a:defRPr sz="1100" b="1">
                <a:solidFill>
                  <a:srgbClr val="196B24"/>
                </a:solidFill>
              </a:defRPr>
            </a:pPr>
            <a:r>
              <a:t>   $0.00 / 月（0 算力开销）  (完全在业务员手机本地 NPU/GPU 计算，不产生任何云端推理账单。)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自研 YOLO 云端批量推理：</a:t>
            </a:r>
          </a:p>
          <a:p>
            <a:pPr>
              <a:spcBef>
                <a:spcPts val="100"/>
              </a:spcBef>
              <a:defRPr sz="1100" b="0">
                <a:solidFill>
                  <a:srgbClr val="156082"/>
                </a:solidFill>
              </a:defRPr>
            </a:pPr>
            <a:r>
              <a:t>   ~$15 USD / 月（约 105 元 RMB）  (EC2 GPU (TensorRT FP16) 吞吐 100 张/秒，每天 2 万张仅需运行 3.3 分钟。)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多模态大模型 API (经济版)：</a:t>
            </a:r>
          </a:p>
          <a:p>
            <a:pPr>
              <a:spcBef>
                <a:spcPts val="100"/>
              </a:spcBef>
              <a:defRPr sz="1100" b="0">
                <a:solidFill>
                  <a:srgbClr val="E11D48"/>
                </a:solidFill>
              </a:defRPr>
            </a:pPr>
            <a:r>
              <a:t>   $1,800 USD / 月（年化 15.6 万元）  (按 $0.003/张（如 GPT-4o-mini / Qwen-VL）计费，每天需 $60。)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多模态大模型 API (主力版)：</a:t>
            </a:r>
          </a:p>
          <a:p>
            <a:pPr>
              <a:spcBef>
                <a:spcPts val="100"/>
              </a:spcBef>
              <a:defRPr sz="1100" b="0">
                <a:solidFill>
                  <a:srgbClr val="E11D48"/>
                </a:solidFill>
              </a:defRPr>
            </a:pPr>
            <a:r>
              <a:t>   $6,000 USD / 月（年化 52.0 万元）  (按 $0.010/张计费，每天需 $200，长期使用成本极高。)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💰 4 国规模下年化节省：</a:t>
            </a:r>
          </a:p>
          <a:p>
            <a:pPr>
              <a:spcBef>
                <a:spcPts val="100"/>
              </a:spcBef>
              <a:defRPr sz="1100" b="1">
                <a:solidFill>
                  <a:srgbClr val="196B24"/>
                </a:solidFill>
              </a:defRPr>
            </a:pPr>
            <a:r>
              <a:t>   每年节省 15 万 ~ 52 万元 RMB  (自研 YOLO 方案带来立竿见影的财务收益。)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5242255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E97132"/>
                </a:solidFill>
              </a:defRPr>
            </a:pPr>
            <a:r>
              <a:t>🚀 未来全量推广（100,000 张/天 = 300 万张/月）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自研 YOLO 端侧推理：</a:t>
            </a:r>
          </a:p>
          <a:p>
            <a:pPr>
              <a:spcBef>
                <a:spcPts val="100"/>
              </a:spcBef>
              <a:defRPr sz="1100" b="1">
                <a:solidFill>
                  <a:srgbClr val="196B24"/>
                </a:solidFill>
              </a:defRPr>
            </a:pPr>
            <a:r>
              <a:t>   $0.00 / 月（0 算力开销）  (手机本地计算，业务量增长 5 倍也无需增加任何推理服务器。)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自研 YOLO 云端批量推理：</a:t>
            </a:r>
          </a:p>
          <a:p>
            <a:pPr>
              <a:spcBef>
                <a:spcPts val="100"/>
              </a:spcBef>
              <a:defRPr sz="1100" b="0">
                <a:solidFill>
                  <a:srgbClr val="E97132"/>
                </a:solidFill>
              </a:defRPr>
            </a:pPr>
            <a:r>
              <a:t>   ~$45 USD / 月（约 315 元 RMB）  (EC2 GPU 每天仅需运行 ~16 分钟即可全部处理完毕。)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多模态大模型 API (经济版)：</a:t>
            </a:r>
          </a:p>
          <a:p>
            <a:pPr>
              <a:spcBef>
                <a:spcPts val="100"/>
              </a:spcBef>
              <a:defRPr sz="1100" b="0">
                <a:solidFill>
                  <a:srgbClr val="E11D48"/>
                </a:solidFill>
              </a:defRPr>
            </a:pPr>
            <a:r>
              <a:t>   $9,000 USD / 月（年化 78 万元 RMB）  (每天仅 API 消耗达 $300，成本随业务量线性暴增。)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多模态大模型 API (主力版)：</a:t>
            </a:r>
          </a:p>
          <a:p>
            <a:pPr>
              <a:spcBef>
                <a:spcPts val="100"/>
              </a:spcBef>
              <a:defRPr sz="1100" b="0">
                <a:solidFill>
                  <a:srgbClr val="E11D48"/>
                </a:solidFill>
              </a:defRPr>
            </a:pPr>
            <a:r>
              <a:t>   $30,000 USD / 月（年化 260 万元 RMB）  (每天 API 消耗达 $1,000，吞噬大量业务利润。)</a:t>
            </a:r>
          </a:p>
          <a:p>
            <a:pPr>
              <a:spcBef>
                <a:spcPts val="500"/>
              </a:spcBef>
              <a:defRPr sz="1200" b="1">
                <a:solidFill>
                  <a:srgbClr val="0E2841"/>
                </a:solidFill>
              </a:defRPr>
            </a:pPr>
            <a:r>
              <a:t>• 💰 全量规模下年化节省：</a:t>
            </a:r>
          </a:p>
          <a:p>
            <a:pPr>
              <a:spcBef>
                <a:spcPts val="100"/>
              </a:spcBef>
              <a:defRPr sz="1100" b="1">
                <a:solidFill>
                  <a:srgbClr val="196B24"/>
                </a:solidFill>
              </a:defRPr>
            </a:pPr>
            <a:r>
              <a:t>   每年节省 78 万 ~ 260 万元 RMB  (业务规模越大，自研 YOLO 沉淀的模型资产 ROI 越惊人。)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技术路径深度对比：自研 YOLO 与多模态大模型（MLLM）核心维度剖析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728655" cy="6246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579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自研 YOLO 检测模型路径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商业/开源多模态大模型路径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选型影响 / 决策结论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2841"/>
                          </a:solidFill>
                        </a:defRPr>
                      </a:pPr>
                      <a:r>
                        <a:t>手机相机取景实时扫描</a:t>
                      </a:r>
                    </a:p>
                    <a:p>
                      <a:r>
                        <a:t>(30 FPS 毫秒级)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✅ 完美支持</a:t>
                      </a:r>
                    </a:p>
                    <a:p>
                      <a:r>
                        <a:t>20~50ms 本地极速画框，现场秒级辅助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❌ 无法支持</a:t>
                      </a:r>
                    </a:p>
                    <a:p>
                      <a:r>
                        <a:t>单次需 2~6 秒，必须拍完上传后盲等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56082"/>
                          </a:solidFill>
                        </a:defRPr>
                      </a:pPr>
                      <a:r>
                        <a:t>一线操作体验的关键分水岭</a:t>
                      </a:r>
                    </a:p>
                    <a:p>
                      <a:r>
                        <a:t>(YOLO 完胜)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2841"/>
                          </a:solidFill>
                        </a:defRPr>
                      </a:pPr>
                      <a:r>
                        <a:t>密集商品精准计数</a:t>
                      </a:r>
                    </a:p>
                    <a:p>
                      <a:r>
                        <a:t>(抗遮挡/叠放)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✅ 极高准确率</a:t>
                      </a:r>
                    </a:p>
                    <a:p>
                      <a:r>
                        <a:t>像素级 Bounding Box，无计数幻觉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⚠️ 中弱 / 易幻觉</a:t>
                      </a:r>
                    </a:p>
                    <a:p>
                      <a:r>
                        <a:t>密集叠放时多算/漏算概率明显增加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56082"/>
                          </a:solidFill>
                        </a:defRPr>
                      </a:pPr>
                      <a:r>
                        <a:t>陈列审计与核销基础</a:t>
                      </a:r>
                    </a:p>
                    <a:p>
                      <a:r>
                        <a:t>(YOLO 完胜)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2841"/>
                          </a:solidFill>
                        </a:defRPr>
                      </a:pPr>
                      <a:r>
                        <a:t>离线 / 弱网可用性</a:t>
                      </a:r>
                    </a:p>
                    <a:p>
                      <a:r>
                        <a:t>(海外偏远门店)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✅ 100% 离线可用</a:t>
                      </a:r>
                    </a:p>
                    <a:p>
                      <a:r>
                        <a:t>模型内置手机，现场无网也能即刻核查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❌ 需等待联网同步</a:t>
                      </a:r>
                    </a:p>
                    <a:p>
                      <a:r>
                        <a:t>弱网时大模型接口超时，无法现场反馈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56082"/>
                          </a:solidFill>
                        </a:defRPr>
                      </a:pPr>
                      <a:r>
                        <a:t>决定海外偏远商超落地体验</a:t>
                      </a:r>
                    </a:p>
                    <a:p>
                      <a:r>
                        <a:t>(YOLO 完胜)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2841"/>
                          </a:solidFill>
                        </a:defRPr>
                      </a:pPr>
                      <a:r>
                        <a:t>2万~10万张/天推理成本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✅ 手机端 $0 / 云端 ~$15~$45/月</a:t>
                      </a:r>
                    </a:p>
                    <a:p>
                      <a:r>
                        <a:t>极度便宜，边际成本接近 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❌ $1,800 ~ $30,000 / 月</a:t>
                      </a:r>
                    </a:p>
                    <a:p>
                      <a:r>
                        <a:t>每年消耗 15万~260万元 API 费用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56082"/>
                          </a:solidFill>
                        </a:defRPr>
                      </a:pPr>
                      <a:r>
                        <a:t>百万级调用下财务 ROI 悬殊</a:t>
                      </a:r>
                    </a:p>
                    <a:p>
                      <a:r>
                        <a:t>(YOLO 极具优势)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2841"/>
                          </a:solidFill>
                        </a:defRPr>
                      </a:pPr>
                      <a:r>
                        <a:t>场景语义与经营建议</a:t>
                      </a:r>
                    </a:p>
                    <a:p>
                      <a:r>
                        <a:t>(货架综合评价)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❌ 不支持</a:t>
                      </a:r>
                    </a:p>
                    <a:p>
                      <a:r>
                        <a:t>仅输出物体框、类别与数量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✅ 极强</a:t>
                      </a:r>
                    </a:p>
                    <a:p>
                      <a:r>
                        <a:t>可深度理解陈列整洁度并输出建议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56082"/>
                          </a:solidFill>
                        </a:defRPr>
                      </a:pPr>
                      <a:r>
                        <a:t>宏观决策与门店评分</a:t>
                      </a:r>
                    </a:p>
                    <a:p>
                      <a:r>
                        <a:t>(大模型占优)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2841"/>
                          </a:solidFill>
                        </a:defRPr>
                      </a:pPr>
                      <a:r>
                        <a:t>前期工程建设投入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⚠️ 需搭建数据标注、EC2 训练与导出流</a:t>
                      </a:r>
                    </a:p>
                    <a:p>
                      <a:r>
                        <a:t>(本项目已全部搭建完成)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✅ 无需训练模型</a:t>
                      </a:r>
                    </a:p>
                    <a:p>
                      <a:r>
                        <a:t>只需编写 Prompt 与编排 Skill/MCP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56082"/>
                          </a:solidFill>
                        </a:defRPr>
                      </a:pPr>
                      <a:r>
                        <a:t>自研门槛已被本项目打通</a:t>
                      </a:r>
                    </a:p>
                    <a:p>
                      <a:r>
                        <a:t>(两方均可行)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2841"/>
                          </a:solidFill>
                        </a:defRPr>
                      </a:pPr>
                      <a:r>
                        <a:t>后续运维核心要求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• 收集误检漏检图片</a:t>
                      </a:r>
                    </a:p>
                    <a:p>
                      <a:r>
                        <a:t>• Label Studio 复核后定期重训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2841"/>
                          </a:solidFill>
                        </a:defRPr>
                      </a:pPr>
                      <a:r>
                        <a:t>• 维护 Prompt / Few-shot 规则</a:t>
                      </a:r>
                    </a:p>
                    <a:p>
                      <a:r>
                        <a:t>• 维护 MCP / Skill 与结构化解析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56082"/>
                          </a:solidFill>
                        </a:defRPr>
                      </a:pPr>
                      <a:r>
                        <a:t>YOLO 沉淀私有模型资产</a:t>
                      </a:r>
                    </a:p>
                    <a:p>
                      <a:r>
                        <a:t>大模型沉淀 Prompt 资产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终端实时识别剖析：为什么手机端打开相机实时检测只能用 YOLO？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51460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1. 终端内存与芯片算力</a:t>
            </a:r>
          </a:p>
          <a:p>
            <a:pPr>
              <a:spcBef>
                <a:spcPts val="300"/>
              </a:spcBef>
              <a:defRPr sz="1100" b="1">
                <a:solidFill>
                  <a:srgbClr val="0E2841"/>
                </a:solidFill>
              </a:defRPr>
            </a:pPr>
            <a:r>
              <a:t>大模型进不去手机端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一线访销员多使用中低端 Android 手机（4GB~6GB RAM）。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即使轻量级多模态模型（2B~7B）也需占用 2GB~4GB 内存，极易引发闪退卡死。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自研 YOLO 导出的 CoreML/NCNN 仅占 15MB~25MB 内存，低端机流畅运行。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234440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65576" y="1234440"/>
            <a:ext cx="2514600" cy="8229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02736" y="137160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56082"/>
                </a:solidFill>
              </a:defRPr>
            </a:pPr>
            <a:r>
              <a:t>2. 相机帧率预算与延迟</a:t>
            </a:r>
          </a:p>
          <a:p>
            <a:pPr>
              <a:spcBef>
                <a:spcPts val="300"/>
              </a:spcBef>
              <a:defRPr sz="1100" b="1">
                <a:solidFill>
                  <a:srgbClr val="0E2841"/>
                </a:solidFill>
              </a:defRPr>
            </a:pPr>
            <a:r>
              <a:t>30 FPS 毫秒级 vs 5 秒盲等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相机实时取景流要求每秒处理 30 帧画面（每帧预算 &lt;33ms）。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YOLO 结合手机 NPU 硬件加速仅需 20~50ms，实现丝滑 AR 画框追踪。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多模态大模型单次耗时 2~6 秒，根本无法在相机取景器中做实时动态辅助。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34440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234440"/>
            <a:ext cx="2514600" cy="82296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7160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97132"/>
                </a:solidFill>
              </a:defRPr>
            </a:pPr>
            <a:r>
              <a:t>3. 现场即刻核对与防抖质检</a:t>
            </a:r>
          </a:p>
          <a:p>
            <a:pPr>
              <a:spcBef>
                <a:spcPts val="300"/>
              </a:spcBef>
              <a:defRPr sz="1100" b="1">
                <a:solidFill>
                  <a:srgbClr val="0E2841"/>
                </a:solidFill>
              </a:defRPr>
            </a:pPr>
            <a:r>
              <a:t>快门前纠偏 vs 事后返工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业务员在按下快门前即可在屏幕上看到已识别的包装数量，如有漏拍可即刻调整距离。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端侧实时检测模糊、反光、过曝，瞬间提醒对焦，从源头杜绝废片。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若走大模型，拍照上传后需等待数秒才知结果，业务员早已离开货架。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234440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33688" y="1234440"/>
            <a:ext cx="2514600" cy="82296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0848" y="137160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96B24"/>
                </a:solidFill>
              </a:defRPr>
            </a:pPr>
            <a:r>
              <a:t>4. 密集计数的算法确定性</a:t>
            </a:r>
          </a:p>
          <a:p>
            <a:pPr>
              <a:spcBef>
                <a:spcPts val="300"/>
              </a:spcBef>
              <a:defRPr sz="1100" b="1">
                <a:solidFill>
                  <a:srgbClr val="0E2841"/>
                </a:solidFill>
              </a:defRPr>
            </a:pPr>
            <a:r>
              <a:t>像素级锚框 vs 自回归幻觉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YOLO 具备专用的目标检测回归头，对密集重叠包装具有确定的坐标输出。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大模型本质是文本概率生成，在货架数十包商品密集堆叠时极易数错。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• 陈列费用核销需要客观、精准、可追溯的像素级定界证据。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6B24"/>
                </a:solidFill>
              </a:defRPr>
            </a:pPr>
            <a:r>
              <a:t>🎯 核心体验差距：YOLO 是『实时取景扫码辅助』，大模型只能是『事后拍照等待回传』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通过将 YOLO 导出为 iOS CoreML 及 Android NCNN/TFLite 格式，直接嵌入 Flutter App，让业务员在现场『打开相机对准货架，屏幕即刻实时圈出本品与竞品包装并显示计数』，将巡店核销时间由 3 分钟缩短至 20 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运维与演进要求：自研 YOLO 与多模态大模型两条路径的落地代价对比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6082"/>
                </a:solidFill>
              </a:defRPr>
            </a:pPr>
            <a:r>
              <a:t>🔧 自研 YOLO 路径的运维与工程要求</a:t>
            </a:r>
          </a:p>
          <a:p>
            <a:pPr>
              <a:spcBef>
                <a:spcPts val="800"/>
              </a:spcBef>
              <a:defRPr sz="1250" b="1">
                <a:solidFill>
                  <a:srgbClr val="0E2841"/>
                </a:solidFill>
              </a:defRPr>
            </a:pPr>
            <a:r>
              <a:t>• 数据闭环回流机制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   业务端上线后，收集业务员人工上报/置信度 &lt;0.4 的疑难误检漏检图片，持续回流到 raw/images 池。</a:t>
            </a:r>
          </a:p>
          <a:p>
            <a:pPr>
              <a:spcBef>
                <a:spcPts val="800"/>
              </a:spcBef>
              <a:defRPr sz="1250" b="1">
                <a:solidFill>
                  <a:srgbClr val="0E2841"/>
                </a:solidFill>
              </a:defRPr>
            </a:pPr>
            <a:r>
              <a:t>• 标注平台与复核规范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   维持已搭建的 Label Studio 标注规范，新引入品牌/SKU 时仅需标注 100~200 张典型图即可扩展新类别。</a:t>
            </a:r>
          </a:p>
          <a:p>
            <a:pPr>
              <a:spcBef>
                <a:spcPts val="800"/>
              </a:spcBef>
              <a:defRPr sz="1250" b="1">
                <a:solidFill>
                  <a:srgbClr val="0E2841"/>
                </a:solidFill>
              </a:defRPr>
            </a:pPr>
            <a:r>
              <a:t>• 自动化 CI/CD 训练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   基于已建立的 Makefile / EC2 工作流，一键触发 GPU 训练、数据校验与自动回归评估。</a:t>
            </a:r>
          </a:p>
          <a:p>
            <a:pPr>
              <a:spcBef>
                <a:spcPts val="800"/>
              </a:spcBef>
              <a:defRPr sz="1250" b="1">
                <a:solidFill>
                  <a:srgbClr val="0E2841"/>
                </a:solidFill>
              </a:defRPr>
            </a:pPr>
            <a:r>
              <a:t>• 移动端模型热更新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   在 Flutter 端开发模型版本拉取接口，新版 best.pt 导出 CoreML/NCNN 后无需发版 App 即可静默热推模型。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97132"/>
                </a:solidFill>
              </a:defRPr>
            </a:pPr>
            <a:r>
              <a:t>🤖 多模态大模型路径的运维与协议要求</a:t>
            </a:r>
          </a:p>
          <a:p>
            <a:pPr>
              <a:spcBef>
                <a:spcPts val="600"/>
              </a:spcBef>
              <a:defRPr sz="1250" b="1">
                <a:solidFill>
                  <a:srgbClr val="0E2841"/>
                </a:solidFill>
              </a:defRPr>
            </a:pPr>
            <a:r>
              <a:t>• 零模型自研负担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   无需训练模型，无需管理 GPU 训练集群与 PyTorch 环境，基础设施极度轻量。</a:t>
            </a:r>
          </a:p>
          <a:p>
            <a:pPr>
              <a:spcBef>
                <a:spcPts val="600"/>
              </a:spcBef>
              <a:defRPr sz="1250" b="1">
                <a:solidFill>
                  <a:srgbClr val="0E2841"/>
                </a:solidFill>
              </a:defRPr>
            </a:pPr>
            <a:r>
              <a:t>• Prompt &amp; Few-Shot 维护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   需持续调试和维护陈列打分与门店画像的 Prompt 模板，维护典型货架示例以保证规则对齐。</a:t>
            </a:r>
          </a:p>
          <a:p>
            <a:pPr>
              <a:spcBef>
                <a:spcPts val="600"/>
              </a:spcBef>
              <a:defRPr sz="1250" b="1">
                <a:solidFill>
                  <a:srgbClr val="0E2841"/>
                </a:solidFill>
              </a:defRPr>
            </a:pPr>
            <a:r>
              <a:t>• Skill / MCP 协议编排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   维护 Model Context Protocol (MCP) 或 Agent Skill 接口，连接 CRM、商品主数据与图片库。</a:t>
            </a:r>
          </a:p>
          <a:p>
            <a:pPr>
              <a:spcBef>
                <a:spcPts val="600"/>
              </a:spcBef>
              <a:defRPr sz="1250" b="1">
                <a:solidFill>
                  <a:srgbClr val="0E2841"/>
                </a:solidFill>
              </a:defRPr>
            </a:pPr>
            <a:r>
              <a:t>• JSON Schema 强校验容错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   大模型输出天然存在格式漂移风险，必须建立 Pydantic / JSON Schema 解析与异常重试机制。</a:t>
            </a:r>
          </a:p>
          <a:p>
            <a:pPr>
              <a:spcBef>
                <a:spcPts val="600"/>
              </a:spcBef>
              <a:defRPr sz="1250" b="1">
                <a:solidFill>
                  <a:srgbClr val="0E2841"/>
                </a:solidFill>
              </a:defRPr>
            </a:pPr>
            <a:r>
              <a:t>• API 成本与并发流控看板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   监控供应商 API 配额、Token 消耗速率与响应超时，配置多供应商容灾降级方案。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战略落地推荐：『端侧 YOLO 极速检测 + 云端大模型深度决策』端云协同架构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E2841"/>
                </a:solidFill>
              </a:defRPr>
            </a:pPr>
            <a:r>
              <a:t>【前端】第一段：端侧轻量 YOLO 实时识别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定位：极致的实时交互、精准计数与防抖质检</a:t>
            </a:r>
          </a:p>
          <a:p>
            <a:pPr>
              <a:spcBef>
                <a:spcPts val="800"/>
              </a:spcBef>
              <a:defRPr sz="1250" b="1">
                <a:solidFill>
                  <a:srgbClr val="156082"/>
                </a:solidFill>
              </a:defRPr>
            </a:pPr>
            <a:r>
              <a:t>✔ 手机相机实时扫码式识别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</a:defRPr>
            </a:pPr>
            <a:r>
              <a:t>   打开 Flutter 相机，CoreML/NCNN 毫秒级画框追踪，显示当前识别到的包装数量与类别。</a:t>
            </a:r>
          </a:p>
          <a:p>
            <a:pPr>
              <a:spcBef>
                <a:spcPts val="800"/>
              </a:spcBef>
              <a:defRPr sz="1250" b="1">
                <a:solidFill>
                  <a:srgbClr val="156082"/>
                </a:solidFill>
              </a:defRPr>
            </a:pPr>
            <a:r>
              <a:t>✔ 现场拍摄质量拦截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</a:defRPr>
            </a:pPr>
            <a:r>
              <a:t>   实时检测模糊、反光、过曝、角度倾斜，在拍摄瞬间提示业务员重拍，从源头保证数据质量。</a:t>
            </a:r>
          </a:p>
          <a:p>
            <a:pPr>
              <a:spcBef>
                <a:spcPts val="800"/>
              </a:spcBef>
              <a:defRPr sz="1250" b="1">
                <a:solidFill>
                  <a:srgbClr val="156082"/>
                </a:solidFill>
              </a:defRPr>
            </a:pPr>
            <a:r>
              <a:t>✔ 本品与竞品即刻核销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</a:defRPr>
            </a:pPr>
            <a:r>
              <a:t>   现场 0 秒返回本品陈列数、竞品陈列数与排面占比，无网络也能即刻完成基础合规巡查。</a:t>
            </a:r>
          </a:p>
          <a:p>
            <a:pPr>
              <a:spcBef>
                <a:spcPts val="800"/>
              </a:spcBef>
              <a:defRPr sz="1250" b="1">
                <a:solidFill>
                  <a:srgbClr val="156082"/>
                </a:solidFill>
              </a:defRPr>
            </a:pPr>
            <a:r>
              <a:t>✔ 0 云端算力与额外流量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</a:defRPr>
            </a:pPr>
            <a:r>
              <a:t>   全部在手机端运行，不产生任何后端 GPU 计费与服务器吞吐压力。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96B24"/>
                </a:solidFill>
              </a:defRPr>
            </a:pPr>
            <a:r>
              <a:t>【后端】第二段：云端多模态 + 规则引擎深度赋能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定位：多维场景理解、陈列等级评分与经营决策</a:t>
            </a:r>
          </a:p>
          <a:p>
            <a:pPr>
              <a:spcBef>
                <a:spcPts val="800"/>
              </a:spcBef>
              <a:defRPr sz="1250" b="1">
                <a:solidFill>
                  <a:srgbClr val="196B24"/>
                </a:solidFill>
              </a:defRPr>
            </a:pPr>
            <a:r>
              <a:t>★ 多维数据融合输入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</a:defRPr>
            </a:pPr>
            <a:r>
              <a:t>   将端侧 YOLO 统计数量 + OCR 价签识别文本 + 门店整图结构化汇总送入云端。</a:t>
            </a:r>
          </a:p>
          <a:p>
            <a:pPr>
              <a:spcBef>
                <a:spcPts val="800"/>
              </a:spcBef>
              <a:defRPr sz="1250" b="1">
                <a:solidFill>
                  <a:srgbClr val="196B24"/>
                </a:solidFill>
              </a:defRPr>
            </a:pPr>
            <a:r>
              <a:t>★ AI 智能陈列合规评分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</a:defRPr>
            </a:pPr>
            <a:r>
              <a:t>   多模态大模型结合业务规则，对货架饱满度、黄金陈列位、物料布置给出客观分值。</a:t>
            </a:r>
          </a:p>
          <a:p>
            <a:pPr>
              <a:spcBef>
                <a:spcPts val="800"/>
              </a:spcBef>
              <a:defRPr sz="1250" b="1">
                <a:solidFill>
                  <a:srgbClr val="196B24"/>
                </a:solidFill>
              </a:defRPr>
            </a:pPr>
            <a:r>
              <a:t>★ AI 自动生成门店画像与等级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</a:defRPr>
            </a:pPr>
            <a:r>
              <a:t>   反推门店商圈等级、经营能力与分销潜力，免除基层访销员主观误判。</a:t>
            </a:r>
          </a:p>
          <a:p>
            <a:pPr>
              <a:spcBef>
                <a:spcPts val="800"/>
              </a:spcBef>
              <a:defRPr sz="1250" b="1">
                <a:solidFill>
                  <a:srgbClr val="196B24"/>
                </a:solidFill>
              </a:defRPr>
            </a:pPr>
            <a:r>
              <a:t>★ 输出个性化整改与经营建议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</a:defRPr>
            </a:pPr>
            <a:r>
              <a:t>   自动向业务员及督导推送整改话术与补货推荐，直接反哺 CRM 2.0。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97132"/>
                </a:solidFill>
                <a:latin typeface="Arial"/>
              </a:defRPr>
            </a:pPr>
            <a:r>
              <a:t>智能陈列识别技术与业务决策汇报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推进计划：分阶段商业化落地路线图与近期工作规划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33756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3337560" cy="82296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971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2841"/>
                </a:solidFill>
              </a:defRPr>
            </a:pPr>
            <a:r>
              <a:t>Phase 1: 4国试点闭环 (1~2个月)</a:t>
            </a:r>
          </a:p>
          <a:p>
            <a:pPr>
              <a:spcBef>
                <a:spcPts val="300"/>
              </a:spcBef>
              <a:defRPr sz="1100" b="1">
                <a:solidFill>
                  <a:srgbClr val="0E2841"/>
                </a:solidFill>
              </a:defRPr>
            </a:pPr>
            <a:r>
              <a:t>加纳/赞比亚/科特迪瓦/坦桑尼亚端侧试点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Flutter 手机端集成 YOLO CoreML/NCNN 插件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在重点 4 国销售团队开启相机实时扫描功能试点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打通端侧『低置信度/误检图片』自动化回流管道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验证一线业务员巡店时间是否由 3 分钟缩短至 20 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234440"/>
            <a:ext cx="333756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25696" y="1234440"/>
            <a:ext cx="3337560" cy="8229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371600"/>
            <a:ext cx="2971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56082"/>
                </a:solidFill>
              </a:defRPr>
            </a:pPr>
            <a:r>
              <a:t>Phase 2: 全量品类推广 (3~4个月)</a:t>
            </a:r>
          </a:p>
          <a:p>
            <a:pPr>
              <a:spcBef>
                <a:spcPts val="300"/>
              </a:spcBef>
              <a:defRPr sz="1100" b="1">
                <a:solidFill>
                  <a:srgbClr val="0E2841"/>
                </a:solidFill>
              </a:defRPr>
            </a:pPr>
            <a:r>
              <a:t>日均 10 万张/天 全量覆盖与流水线自动化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扩展至 Softcare, Kleesoft, Doffi, 洗涤, 香皂等全品类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启用自动化增量重训流水线，每周无感升级模型权重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建立多品牌、多国家、多规格的统一模型版本资产库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全面替代人工后台初审，自动化审核率达 90%+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1234440"/>
            <a:ext cx="333756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19871" y="1234440"/>
            <a:ext cx="3337560" cy="82296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1" y="1371600"/>
            <a:ext cx="2971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96B24"/>
                </a:solidFill>
              </a:defRPr>
            </a:pPr>
            <a:r>
              <a:t>Phase 3: 智能大脑升级 (5~6个月)</a:t>
            </a:r>
          </a:p>
          <a:p>
            <a:pPr>
              <a:spcBef>
                <a:spcPts val="300"/>
              </a:spcBef>
              <a:defRPr sz="1100" b="1">
                <a:solidFill>
                  <a:srgbClr val="0E2841"/>
                </a:solidFill>
              </a:defRPr>
            </a:pPr>
            <a:r>
              <a:t>接入云端多模态形成决策大脑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云端接入 Qwen-VL / GPT-4o 多模态大模型与规则引擎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上线 AI 自动评估门店等级与陈列评分功能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与 CRM 2.0 深度融合，输出千店千面的进货与整改建议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形成从『端侧快核销』到『总部智决策』的完整商业闭环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49240"/>
            <a:ext cx="10728655" cy="10515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E2841"/>
                </a:solidFill>
              </a:defRPr>
            </a:pPr>
            <a:r>
              <a:t>📋 建议 COO &amp; CTO 决策项：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</a:defRPr>
            </a:pPr>
            <a:r>
              <a:t>1. 批准启动 Phase 1 手机端（Flutter）实时扫描插件开发与 4 国试点； 2. 同意设立常态化样本回流与 Label Studio 快速复核机制。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1707</Words>
  <Application>Microsoft Macintosh PowerPoint</Application>
  <PresentationFormat>宽屏</PresentationFormat>
  <Paragraphs>268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Biao Guo</cp:lastModifiedBy>
  <cp:revision>4</cp:revision>
  <dcterms:created xsi:type="dcterms:W3CDTF">2013-01-27T09:14:16Z</dcterms:created>
  <dcterms:modified xsi:type="dcterms:W3CDTF">2026-09-23T04:24:39Z</dcterms:modified>
  <cp:category/>
</cp:coreProperties>
</file>