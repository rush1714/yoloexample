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43"/>
    <p:restoredTop sz="94598"/>
  </p:normalViewPr>
  <p:slideViewPr>
    <p:cSldViewPr snapToGrid="0">
      <p:cViewPr varScale="1">
        <p:scale>
          <a:sx n="138" d="100"/>
          <a:sy n="138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ECA9C38-9525-8BA8-7B71-C8048F3245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32F252-6356-2BA3-2F9D-C1161C7E35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94E5B-786A-444E-8085-7B4918393A4B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7531E7-BD14-E784-36F0-D531B3C5F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DB1183-4B17-1859-9335-7BD7C778D2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B27CF-3D43-104A-BABB-CF93025580B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6308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CA596-0559-3545-99FC-44F7E9A5A96B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23738-5FE7-EF45-8FEF-7CF35BE175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98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5DFD7-42ED-3517-83D3-80F51177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63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和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3967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3" name="Object 3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211667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366186" y="1323975"/>
            <a:ext cx="114596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861" y="1646238"/>
            <a:ext cx="10972800" cy="2052926"/>
          </a:xfrm>
        </p:spPr>
        <p:txBody>
          <a:bodyPr anchor="ctr"/>
          <a:lstStyle>
            <a:lvl1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3000" smtClean="0">
                <a:solidFill>
                  <a:srgbClr val="002060"/>
                </a:solidFill>
                <a:latin typeface="Arial" pitchFamily="34" charset="0"/>
                <a:ea typeface="华文楷体" pitchFamily="2" charset="-122"/>
                <a:cs typeface="Arial" pitchFamily="34" charset="0"/>
              </a:defRPr>
            </a:lvl1pPr>
          </a:lstStyle>
          <a:p>
            <a:pPr lvl="0"/>
            <a:endParaRPr lang="en-US" altLang="zh-CN" noProof="0" dirty="0"/>
          </a:p>
        </p:txBody>
      </p:sp>
      <p:pic>
        <p:nvPicPr>
          <p:cNvPr id="34" name="Picture 10" descr="R120_G137_B251-200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706" y="893678"/>
            <a:ext cx="1380295" cy="35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323064" y="4122955"/>
            <a:ext cx="11574229" cy="2347548"/>
            <a:chOff x="152431" y="3892270"/>
            <a:chExt cx="8594725" cy="2233612"/>
          </a:xfrm>
        </p:grpSpPr>
        <p:sp>
          <p:nvSpPr>
            <p:cNvPr id="50" name="Rectangle 22"/>
            <p:cNvSpPr>
              <a:spLocks noChangeArrowheads="1"/>
            </p:cNvSpPr>
            <p:nvPr/>
          </p:nvSpPr>
          <p:spPr bwMode="auto">
            <a:xfrm>
              <a:off x="152431" y="3892270"/>
              <a:ext cx="1356313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1" name="Rectangle 23"/>
            <p:cNvSpPr>
              <a:spLocks noChangeArrowheads="1"/>
            </p:cNvSpPr>
            <p:nvPr/>
          </p:nvSpPr>
          <p:spPr bwMode="auto">
            <a:xfrm>
              <a:off x="152431" y="4776774"/>
              <a:ext cx="1356313" cy="461411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2" name="Rectangle 24"/>
            <p:cNvSpPr>
              <a:spLocks noChangeArrowheads="1"/>
            </p:cNvSpPr>
            <p:nvPr/>
          </p:nvSpPr>
          <p:spPr bwMode="auto">
            <a:xfrm>
              <a:off x="152431" y="5666068"/>
              <a:ext cx="425231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3" name="Rectangle 25"/>
            <p:cNvSpPr>
              <a:spLocks noChangeArrowheads="1"/>
            </p:cNvSpPr>
            <p:nvPr/>
          </p:nvSpPr>
          <p:spPr bwMode="auto">
            <a:xfrm>
              <a:off x="7390843" y="3892270"/>
              <a:ext cx="1356313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4" name="Rectangle 26"/>
            <p:cNvSpPr>
              <a:spLocks noChangeArrowheads="1"/>
            </p:cNvSpPr>
            <p:nvPr/>
          </p:nvSpPr>
          <p:spPr bwMode="auto">
            <a:xfrm>
              <a:off x="7390843" y="4776774"/>
              <a:ext cx="1356313" cy="461411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5" name="Rectangle 27"/>
            <p:cNvSpPr>
              <a:spLocks noChangeArrowheads="1"/>
            </p:cNvSpPr>
            <p:nvPr/>
          </p:nvSpPr>
          <p:spPr bwMode="auto">
            <a:xfrm>
              <a:off x="8321925" y="5666068"/>
              <a:ext cx="425231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6" name="Freeform 28"/>
            <p:cNvSpPr>
              <a:spLocks/>
            </p:cNvSpPr>
            <p:nvPr/>
          </p:nvSpPr>
          <p:spPr bwMode="auto">
            <a:xfrm>
              <a:off x="1962429" y="3892270"/>
              <a:ext cx="4524205" cy="459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2880" y="288"/>
                </a:cxn>
                <a:cxn ang="0">
                  <a:pos x="2838" y="256"/>
                </a:cxn>
                <a:cxn ang="0">
                  <a:pos x="2660" y="134"/>
                </a:cxn>
                <a:cxn ang="0">
                  <a:pos x="2430" y="46"/>
                </a:cxn>
                <a:cxn ang="0">
                  <a:pos x="2230" y="10"/>
                </a:cxn>
                <a:cxn ang="0">
                  <a:pos x="2112" y="0"/>
                </a:cxn>
                <a:cxn ang="0">
                  <a:pos x="0" y="0"/>
                </a:cxn>
              </a:cxnLst>
              <a:rect l="0" t="0" r="r" b="b"/>
              <a:pathLst>
                <a:path w="2880" h="288">
                  <a:moveTo>
                    <a:pt x="0" y="0"/>
                  </a:moveTo>
                  <a:lnTo>
                    <a:pt x="0" y="288"/>
                  </a:lnTo>
                  <a:lnTo>
                    <a:pt x="2880" y="288"/>
                  </a:lnTo>
                  <a:lnTo>
                    <a:pt x="2838" y="256"/>
                  </a:lnTo>
                  <a:cubicBezTo>
                    <a:pt x="2838" y="256"/>
                    <a:pt x="2728" y="169"/>
                    <a:pt x="2660" y="134"/>
                  </a:cubicBezTo>
                  <a:cubicBezTo>
                    <a:pt x="2592" y="99"/>
                    <a:pt x="2502" y="67"/>
                    <a:pt x="2430" y="46"/>
                  </a:cubicBezTo>
                  <a:cubicBezTo>
                    <a:pt x="2358" y="25"/>
                    <a:pt x="2283" y="18"/>
                    <a:pt x="2230" y="10"/>
                  </a:cubicBezTo>
                  <a:lnTo>
                    <a:pt x="21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FFE">
                <a:alpha val="49001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7" name="Freeform 29"/>
            <p:cNvSpPr>
              <a:spLocks/>
            </p:cNvSpPr>
            <p:nvPr/>
          </p:nvSpPr>
          <p:spPr bwMode="auto">
            <a:xfrm>
              <a:off x="1962429" y="4776774"/>
              <a:ext cx="5017410" cy="4646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3194" y="290"/>
                </a:cxn>
                <a:cxn ang="0">
                  <a:pos x="3188" y="256"/>
                </a:cxn>
                <a:cxn ang="0">
                  <a:pos x="3160" y="146"/>
                </a:cxn>
                <a:cxn ang="0">
                  <a:pos x="3118" y="34"/>
                </a:cxn>
                <a:cxn ang="0">
                  <a:pos x="3102" y="2"/>
                </a:cxn>
                <a:cxn ang="0">
                  <a:pos x="0" y="0"/>
                </a:cxn>
              </a:cxnLst>
              <a:rect l="0" t="0" r="r" b="b"/>
              <a:pathLst>
                <a:path w="3194" h="290">
                  <a:moveTo>
                    <a:pt x="0" y="0"/>
                  </a:moveTo>
                  <a:lnTo>
                    <a:pt x="0" y="288"/>
                  </a:lnTo>
                  <a:lnTo>
                    <a:pt x="3194" y="290"/>
                  </a:lnTo>
                  <a:lnTo>
                    <a:pt x="3188" y="256"/>
                  </a:lnTo>
                  <a:cubicBezTo>
                    <a:pt x="3182" y="232"/>
                    <a:pt x="3172" y="183"/>
                    <a:pt x="3160" y="146"/>
                  </a:cubicBezTo>
                  <a:cubicBezTo>
                    <a:pt x="3146" y="103"/>
                    <a:pt x="3128" y="58"/>
                    <a:pt x="3118" y="34"/>
                  </a:cubicBezTo>
                  <a:lnTo>
                    <a:pt x="310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FFE">
                <a:alpha val="49001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8" name="Freeform 30"/>
            <p:cNvSpPr>
              <a:spLocks/>
            </p:cNvSpPr>
            <p:nvPr/>
          </p:nvSpPr>
          <p:spPr bwMode="auto">
            <a:xfrm>
              <a:off x="5582426" y="5662875"/>
              <a:ext cx="1447999" cy="463007"/>
            </a:xfrm>
            <a:custGeom>
              <a:avLst/>
              <a:gdLst/>
              <a:ahLst/>
              <a:cxnLst>
                <a:cxn ang="0">
                  <a:pos x="0" y="290"/>
                </a:cxn>
                <a:cxn ang="0">
                  <a:pos x="0" y="2"/>
                </a:cxn>
                <a:cxn ang="0">
                  <a:pos x="3194" y="0"/>
                </a:cxn>
                <a:cxn ang="0">
                  <a:pos x="3176" y="156"/>
                </a:cxn>
                <a:cxn ang="0">
                  <a:pos x="3150" y="254"/>
                </a:cxn>
                <a:cxn ang="0">
                  <a:pos x="3140" y="290"/>
                </a:cxn>
                <a:cxn ang="0">
                  <a:pos x="0" y="290"/>
                </a:cxn>
              </a:cxnLst>
              <a:rect l="0" t="0" r="r" b="b"/>
              <a:pathLst>
                <a:path w="3194" h="290">
                  <a:moveTo>
                    <a:pt x="0" y="290"/>
                  </a:moveTo>
                  <a:lnTo>
                    <a:pt x="0" y="2"/>
                  </a:lnTo>
                  <a:lnTo>
                    <a:pt x="3194" y="0"/>
                  </a:lnTo>
                  <a:lnTo>
                    <a:pt x="3176" y="156"/>
                  </a:lnTo>
                  <a:cubicBezTo>
                    <a:pt x="3169" y="198"/>
                    <a:pt x="3162" y="232"/>
                    <a:pt x="3150" y="254"/>
                  </a:cubicBezTo>
                  <a:lnTo>
                    <a:pt x="3140" y="290"/>
                  </a:lnTo>
                  <a:lnTo>
                    <a:pt x="0" y="290"/>
                  </a:lnTo>
                  <a:close/>
                </a:path>
              </a:pathLst>
            </a:custGeom>
            <a:solidFill>
              <a:srgbClr val="FEFFFE">
                <a:alpha val="49001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9" name="Rectangle 31"/>
            <p:cNvSpPr>
              <a:spLocks noChangeArrowheads="1"/>
            </p:cNvSpPr>
            <p:nvPr/>
          </p:nvSpPr>
          <p:spPr bwMode="auto">
            <a:xfrm>
              <a:off x="2866638" y="5666068"/>
              <a:ext cx="1356313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DD52E5A6-C115-4834-BCCA-8D7A2DE42A5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49252" y="815799"/>
            <a:ext cx="1561644" cy="4977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F3F5D-EEC0-4CFB-860A-10E300F6E46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1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底和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4006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67DF31-BD6A-492D-B733-80783485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76" y="464379"/>
            <a:ext cx="118440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260F66BC-CADF-4D1B-B45B-FD2D748A5F10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11377620" y="6484198"/>
            <a:ext cx="814375" cy="276241"/>
          </a:xfrm>
          <a:prstGeom prst="rect">
            <a:avLst/>
          </a:prstGeom>
          <a:noFill/>
          <a:ln>
            <a:noFill/>
          </a:ln>
        </p:spPr>
        <p:txBody>
          <a:bodyPr lIns="91311" tIns="45656" rIns="91311" bIns="45656" anchor="ctr" anchorCtr="1"/>
          <a:lstStyle>
            <a:lvl1pPr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1pPr>
            <a:lvl2pPr marL="742950" indent="-28575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2pPr>
            <a:lvl3pPr marL="1143000" indent="-22860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3pPr>
            <a:lvl4pPr marL="1600200" indent="-22860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4pPr>
            <a:lvl5pPr marL="2057400" indent="-22860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  <a:defRPr/>
            </a:pPr>
            <a:fld id="{ED7B72D3-564A-4967-810A-1EDFAB61BF5E}" type="slidenum">
              <a:rPr lang="en-US" altLang="zh-CN" sz="900" b="0" smtClean="0">
                <a:solidFill>
                  <a:srgbClr val="1482B4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pPr>
                <a:lnSpc>
                  <a:spcPct val="85000"/>
                </a:lnSpc>
                <a:defRPr/>
              </a:pPr>
              <a:t>‹#›</a:t>
            </a:fld>
            <a:endParaRPr lang="en-US" altLang="zh-CN" sz="900" b="0" dirty="0">
              <a:solidFill>
                <a:srgbClr val="1482B4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cxnSp>
        <p:nvCxnSpPr>
          <p:cNvPr id="15" name="直接连接符 10">
            <a:extLst>
              <a:ext uri="{FF2B5EF4-FFF2-40B4-BE49-F238E27FC236}">
                <a16:creationId xmlns:a16="http://schemas.microsoft.com/office/drawing/2014/main" id="{B5ED4FF1-D90E-4646-B40E-0DA691816FDA}"/>
              </a:ext>
            </a:extLst>
          </p:cNvPr>
          <p:cNvCxnSpPr/>
          <p:nvPr userDrawn="1"/>
        </p:nvCxnSpPr>
        <p:spPr>
          <a:xfrm>
            <a:off x="149776" y="397851"/>
            <a:ext cx="11844000" cy="0"/>
          </a:xfrm>
          <a:prstGeom prst="line">
            <a:avLst/>
          </a:prstGeom>
          <a:ln w="9525">
            <a:solidFill>
              <a:srgbClr val="CD50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0507DD08-9941-4CBA-98AE-E45FB831E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0840" r="17006"/>
          <a:stretch/>
        </p:blipFill>
        <p:spPr>
          <a:xfrm>
            <a:off x="87866" y="51695"/>
            <a:ext cx="792000" cy="309595"/>
          </a:xfrm>
          <a:prstGeom prst="rect">
            <a:avLst/>
          </a:prstGeom>
        </p:spPr>
      </p:pic>
      <p:sp>
        <p:nvSpPr>
          <p:cNvPr id="17" name="Line 7">
            <a:extLst>
              <a:ext uri="{FF2B5EF4-FFF2-40B4-BE49-F238E27FC236}">
                <a16:creationId xmlns:a16="http://schemas.microsoft.com/office/drawing/2014/main" id="{0A497401-70BF-451B-954C-CDE99D24E1DF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11671300" y="6503255"/>
            <a:ext cx="0" cy="238125"/>
          </a:xfrm>
          <a:prstGeom prst="line">
            <a:avLst/>
          </a:prstGeom>
          <a:noFill/>
          <a:ln w="9525">
            <a:solidFill>
              <a:srgbClr val="1482B4"/>
            </a:solidFill>
            <a:round/>
            <a:headEnd/>
            <a:tailEnd/>
          </a:ln>
        </p:spPr>
        <p:txBody>
          <a:bodyPr wrap="none" lIns="91311" tIns="45656" rIns="91311" bIns="45656" anchor="ctr"/>
          <a:lstStyle/>
          <a:p>
            <a:pPr>
              <a:defRPr/>
            </a:pPr>
            <a:endParaRPr lang="zh-CN" altLang="en-US" sz="1799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" name="Picture">
            <a:extLst>
              <a:ext uri="{FF2B5EF4-FFF2-40B4-BE49-F238E27FC236}">
                <a16:creationId xmlns:a16="http://schemas.microsoft.com/office/drawing/2014/main" id="{F3211D2D-2283-714A-B9D8-0DAB9E394B8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1416118" y="116620"/>
            <a:ext cx="521587" cy="20810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857E03-B7FC-344B-9F78-373F8AC28048}"/>
              </a:ext>
            </a:extLst>
          </p:cNvPr>
          <p:cNvSpPr txBox="1"/>
          <p:nvPr userDrawn="1"/>
        </p:nvSpPr>
        <p:spPr>
          <a:xfrm>
            <a:off x="149777" y="6567937"/>
            <a:ext cx="4211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IBM Consulting /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2022 IBM Corporation</a:t>
            </a:r>
            <a:endParaRPr kumimoji="1" lang="zh-CN" altLang="en-US" sz="7199" dirty="0"/>
          </a:p>
        </p:txBody>
      </p:sp>
      <p:sp>
        <p:nvSpPr>
          <p:cNvPr id="76" name="Rectangle 21">
            <a:extLst>
              <a:ext uri="{FF2B5EF4-FFF2-40B4-BE49-F238E27FC236}">
                <a16:creationId xmlns:a16="http://schemas.microsoft.com/office/drawing/2014/main" id="{9AAB73DD-967A-B041-910E-CE3E8877D9C4}"/>
              </a:ext>
            </a:extLst>
          </p:cNvPr>
          <p:cNvSpPr/>
          <p:nvPr userDrawn="1"/>
        </p:nvSpPr>
        <p:spPr bwMode="auto">
          <a:xfrm>
            <a:off x="-717602" y="1021147"/>
            <a:ext cx="576000" cy="910644"/>
          </a:xfrm>
          <a:prstGeom prst="rect">
            <a:avLst/>
          </a:prstGeom>
          <a:solidFill>
            <a:srgbClr val="2A0A18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Magenta 100*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</a:b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42  10  24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2a0a18</a:t>
            </a:r>
          </a:p>
        </p:txBody>
      </p:sp>
      <p:sp>
        <p:nvSpPr>
          <p:cNvPr id="77" name="Rectangle 22">
            <a:extLst>
              <a:ext uri="{FF2B5EF4-FFF2-40B4-BE49-F238E27FC236}">
                <a16:creationId xmlns:a16="http://schemas.microsoft.com/office/drawing/2014/main" id="{EEC0A4A2-79A7-734F-B48B-1DA5D03ECCCE}"/>
              </a:ext>
            </a:extLst>
          </p:cNvPr>
          <p:cNvSpPr/>
          <p:nvPr userDrawn="1"/>
        </p:nvSpPr>
        <p:spPr bwMode="auto">
          <a:xfrm>
            <a:off x="-717602" y="1931628"/>
            <a:ext cx="576000" cy="910644"/>
          </a:xfrm>
          <a:prstGeom prst="rect">
            <a:avLst/>
          </a:prstGeom>
          <a:solidFill>
            <a:srgbClr val="FF8389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Red 40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255  131  137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ff8389</a:t>
            </a:r>
          </a:p>
        </p:txBody>
      </p:sp>
      <p:sp>
        <p:nvSpPr>
          <p:cNvPr id="78" name="Rectangle 23">
            <a:extLst>
              <a:ext uri="{FF2B5EF4-FFF2-40B4-BE49-F238E27FC236}">
                <a16:creationId xmlns:a16="http://schemas.microsoft.com/office/drawing/2014/main" id="{04E516A2-FA0E-9D41-94CF-D8E7D68147FC}"/>
              </a:ext>
            </a:extLst>
          </p:cNvPr>
          <p:cNvSpPr/>
          <p:nvPr userDrawn="1"/>
        </p:nvSpPr>
        <p:spPr bwMode="auto">
          <a:xfrm>
            <a:off x="-717602" y="2842109"/>
            <a:ext cx="576000" cy="910644"/>
          </a:xfrm>
          <a:prstGeom prst="rect">
            <a:avLst/>
          </a:prstGeom>
          <a:solidFill>
            <a:srgbClr val="FDDC69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Yellow 20*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253  220  105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fddc69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79" name="Rectangle 24">
            <a:extLst>
              <a:ext uri="{FF2B5EF4-FFF2-40B4-BE49-F238E27FC236}">
                <a16:creationId xmlns:a16="http://schemas.microsoft.com/office/drawing/2014/main" id="{338AD8BC-C96B-FB4F-8485-2969895D4718}"/>
              </a:ext>
            </a:extLst>
          </p:cNvPr>
          <p:cNvSpPr/>
          <p:nvPr userDrawn="1"/>
        </p:nvSpPr>
        <p:spPr bwMode="auto">
          <a:xfrm>
            <a:off x="-717602" y="3752591"/>
            <a:ext cx="576000" cy="910644"/>
          </a:xfrm>
          <a:prstGeom prst="rect">
            <a:avLst/>
          </a:prstGeom>
          <a:solidFill>
            <a:srgbClr val="740937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Magenta 80*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116  9  55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740937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0" name="Rectangle 25">
            <a:extLst>
              <a:ext uri="{FF2B5EF4-FFF2-40B4-BE49-F238E27FC236}">
                <a16:creationId xmlns:a16="http://schemas.microsoft.com/office/drawing/2014/main" id="{E79D530D-57C0-4240-9A09-D21513C04ABB}"/>
              </a:ext>
            </a:extLst>
          </p:cNvPr>
          <p:cNvSpPr/>
          <p:nvPr userDrawn="1"/>
        </p:nvSpPr>
        <p:spPr bwMode="auto">
          <a:xfrm>
            <a:off x="-717602" y="5573554"/>
            <a:ext cx="576000" cy="910644"/>
          </a:xfrm>
          <a:prstGeom prst="rect">
            <a:avLst/>
          </a:prstGeom>
          <a:solidFill>
            <a:srgbClr val="42BE65"/>
          </a:solidFill>
          <a:ln w="19050" cap="flat" cmpd="sng" algn="ctr">
            <a:solidFill>
              <a:schemeClr val="accent6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Green 40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66  190  101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42be65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1" name="Rectangle 26">
            <a:extLst>
              <a:ext uri="{FF2B5EF4-FFF2-40B4-BE49-F238E27FC236}">
                <a16:creationId xmlns:a16="http://schemas.microsoft.com/office/drawing/2014/main" id="{E7FA8CB7-4A6C-4C40-9D01-ABDF1A3587C7}"/>
              </a:ext>
            </a:extLst>
          </p:cNvPr>
          <p:cNvSpPr/>
          <p:nvPr userDrawn="1"/>
        </p:nvSpPr>
        <p:spPr bwMode="auto">
          <a:xfrm>
            <a:off x="-1295775" y="2847945"/>
            <a:ext cx="576000" cy="910644"/>
          </a:xfrm>
          <a:prstGeom prst="rect">
            <a:avLst/>
          </a:prstGeom>
          <a:solidFill>
            <a:srgbClr val="BAE6FF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Cyan 20*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186  230  255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bae6ff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2" name="Rectangle 27">
            <a:extLst>
              <a:ext uri="{FF2B5EF4-FFF2-40B4-BE49-F238E27FC236}">
                <a16:creationId xmlns:a16="http://schemas.microsoft.com/office/drawing/2014/main" id="{DEE6B26F-F93F-F047-9FA8-26588535737F}"/>
              </a:ext>
            </a:extLst>
          </p:cNvPr>
          <p:cNvSpPr/>
          <p:nvPr userDrawn="1"/>
        </p:nvSpPr>
        <p:spPr bwMode="auto">
          <a:xfrm>
            <a:off x="-1295775" y="1015149"/>
            <a:ext cx="576000" cy="910644"/>
          </a:xfrm>
          <a:prstGeom prst="rect">
            <a:avLst/>
          </a:prstGeom>
          <a:solidFill>
            <a:srgbClr val="061727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Cyan 100*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6  23  39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061727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3" name="Rectangle 28">
            <a:extLst>
              <a:ext uri="{FF2B5EF4-FFF2-40B4-BE49-F238E27FC236}">
                <a16:creationId xmlns:a16="http://schemas.microsoft.com/office/drawing/2014/main" id="{F48B3754-4D83-0645-967D-1C75E6397F20}"/>
              </a:ext>
            </a:extLst>
          </p:cNvPr>
          <p:cNvSpPr/>
          <p:nvPr userDrawn="1"/>
        </p:nvSpPr>
        <p:spPr bwMode="auto">
          <a:xfrm>
            <a:off x="-717602" y="4652111"/>
            <a:ext cx="576000" cy="910644"/>
          </a:xfrm>
          <a:prstGeom prst="rect">
            <a:avLst/>
          </a:prstGeom>
          <a:solidFill>
            <a:srgbClr val="004144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Teal 80*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0  65  68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004144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4" name="Rectangle 29">
            <a:extLst>
              <a:ext uri="{FF2B5EF4-FFF2-40B4-BE49-F238E27FC236}">
                <a16:creationId xmlns:a16="http://schemas.microsoft.com/office/drawing/2014/main" id="{03462319-6DD2-FC40-A0AD-3D0763AFD1F7}"/>
              </a:ext>
            </a:extLst>
          </p:cNvPr>
          <p:cNvSpPr/>
          <p:nvPr userDrawn="1"/>
        </p:nvSpPr>
        <p:spPr bwMode="auto">
          <a:xfrm>
            <a:off x="-1295775" y="1937628"/>
            <a:ext cx="576000" cy="910644"/>
          </a:xfrm>
          <a:prstGeom prst="rect">
            <a:avLst/>
          </a:prstGeom>
          <a:solidFill>
            <a:srgbClr val="0043CE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Blue 70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  <a:b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</a:b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0  67  206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  <a:b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</a:b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0043ce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5" name="Rectangle 30">
            <a:extLst>
              <a:ext uri="{FF2B5EF4-FFF2-40B4-BE49-F238E27FC236}">
                <a16:creationId xmlns:a16="http://schemas.microsoft.com/office/drawing/2014/main" id="{09CF8412-0E66-5441-B0EC-EACB1510FFC5}"/>
              </a:ext>
            </a:extLst>
          </p:cNvPr>
          <p:cNvSpPr/>
          <p:nvPr userDrawn="1"/>
        </p:nvSpPr>
        <p:spPr bwMode="auto">
          <a:xfrm>
            <a:off x="-1295775" y="3750191"/>
            <a:ext cx="576000" cy="910644"/>
          </a:xfrm>
          <a:prstGeom prst="rect">
            <a:avLst/>
          </a:prstGeom>
          <a:solidFill>
            <a:srgbClr val="565151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Warm Gray 70*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86  81  81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565151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6" name="Rectangle 31">
            <a:extLst>
              <a:ext uri="{FF2B5EF4-FFF2-40B4-BE49-F238E27FC236}">
                <a16:creationId xmlns:a16="http://schemas.microsoft.com/office/drawing/2014/main" id="{6F346B48-EC16-5F4B-87DB-6040424D189B}"/>
              </a:ext>
            </a:extLst>
          </p:cNvPr>
          <p:cNvSpPr/>
          <p:nvPr userDrawn="1"/>
        </p:nvSpPr>
        <p:spPr bwMode="auto">
          <a:xfrm>
            <a:off x="-1295775" y="4661872"/>
            <a:ext cx="576000" cy="910644"/>
          </a:xfrm>
          <a:prstGeom prst="rect">
            <a:avLst/>
          </a:prstGeom>
          <a:solidFill>
            <a:srgbClr val="ADA8A8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Warm Gray 40*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173  168  168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ada8a8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7" name="Rectangle 32">
            <a:extLst>
              <a:ext uri="{FF2B5EF4-FFF2-40B4-BE49-F238E27FC236}">
                <a16:creationId xmlns:a16="http://schemas.microsoft.com/office/drawing/2014/main" id="{A0E7E9AA-2234-804A-B5CF-AAA0A6511C3C}"/>
              </a:ext>
            </a:extLst>
          </p:cNvPr>
          <p:cNvSpPr/>
          <p:nvPr userDrawn="1"/>
        </p:nvSpPr>
        <p:spPr bwMode="auto">
          <a:xfrm>
            <a:off x="-1295775" y="5573554"/>
            <a:ext cx="576000" cy="910644"/>
          </a:xfrm>
          <a:prstGeom prst="rect">
            <a:avLst/>
          </a:prstGeom>
          <a:solidFill>
            <a:srgbClr val="E5E0DF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Warm Gray 20*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229  224  223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e5e0df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39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sldNum="0" hdr="0" dt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kumimoji="0" lang="en-US" altLang="en-US" sz="2199" b="1" i="0" u="none" strike="noStrike" kern="0" cap="none" spc="0" normalizeH="0" baseline="0" dirty="0">
          <a:ln>
            <a:noFill/>
          </a:ln>
          <a:solidFill>
            <a:srgbClr val="3F71A3"/>
          </a:solidFill>
          <a:effectLst/>
          <a:uLnTx/>
          <a:uFillTx/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0" indent="0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j-ea"/>
          <a:ea typeface="+mj-ea"/>
          <a:cs typeface="+mn-cs"/>
        </a:defRPr>
      </a:lvl1pPr>
      <a:lvl2pPr marL="457154" indent="0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399" kern="1200">
          <a:solidFill>
            <a:schemeClr val="tx1"/>
          </a:solidFill>
          <a:latin typeface="+mj-ea"/>
          <a:ea typeface="+mj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j-ea"/>
          <a:ea typeface="+mj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j-ea"/>
          <a:ea typeface="+mj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j-ea"/>
          <a:ea typeface="+mj-ea"/>
          <a:cs typeface="+mn-cs"/>
        </a:defRPr>
      </a:lvl5pPr>
      <a:lvl6pPr marL="2514348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2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2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011680" cy="10972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E2841"/>
                </a:solidFill>
                <a:latin typeface="PingFang SC"/>
              </a:defRPr>
            </a:pPr>
            <a:r>
              <a:t>门店陈列 AI 智能识别方案汇报</a:t>
            </a:r>
          </a:p>
          <a:p>
            <a:pPr>
              <a:spcBef>
                <a:spcPts val="1200"/>
              </a:spcBef>
              <a:defRPr sz="1800">
                <a:solidFill>
                  <a:srgbClr val="156082"/>
                </a:solidFill>
                <a:latin typeface="PingFang SC"/>
              </a:defRPr>
            </a:pPr>
            <a:r>
              <a:t>聚焦重点 4 国（20,000张/天）与未来全量（100,000张/天）的技术选型、成本精算与终端落地 (v3.0)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33375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931920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96B24"/>
                </a:solidFill>
                <a:latin typeface="PingFang SC"/>
              </a:defRPr>
            </a:pPr>
            <a:r>
              <a:t>实测精度突破 96%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PingFang SC"/>
              </a:defRPr>
            </a:pPr>
            <a:r>
              <a:t>加纳真实货架实测 Precision 达 96.10%，mAP50 突破 90.51%，视觉识别完全达标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749039"/>
            <a:ext cx="33375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54296" y="3931920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56082"/>
                </a:solidFill>
                <a:latin typeface="PingFang SC"/>
              </a:defRPr>
            </a:pPr>
            <a:r>
              <a:t>端侧 0 成本实时扫描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PingFang SC"/>
              </a:defRPr>
            </a:pPr>
            <a:r>
              <a:t>支持手机本地 30FPS 实时扫码式识别，0 新增服务器算力成本，100% 离线可用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1" y="3749039"/>
            <a:ext cx="33375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1" y="3931920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E97132"/>
                </a:solidFill>
                <a:latin typeface="PingFang SC"/>
              </a:defRPr>
            </a:pPr>
            <a:r>
              <a:t>年化节省百万级成本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PingFang SC"/>
              </a:defRPr>
            </a:pPr>
            <a:r>
              <a:t>相比多模态大模型 API，在 2万~10万张/天规模下每年节省 10万~270万元 费用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75569"/>
                </a:solidFill>
              </a:defRPr>
            </a:pPr>
            <a:r>
              <a:t>汇报对象：COO / CTO  |  汇报主体：视觉 AI 研发项目组  |  日期：2026-09-23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389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  <a:latin typeface="Arial"/>
              </a:defRPr>
            </a:pPr>
            <a:r>
              <a:rPr dirty="0" err="1"/>
              <a:t>智能陈列识别技术与业务决策汇报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核心结论先行：YOLO 自研方案商业与技术可行性已得到双重确立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2801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2841"/>
                </a:solidFill>
              </a:defRPr>
            </a:pPr>
            <a:r>
              <a:t>战略总结论：YOLO 方案完全可行，是兼顾实时交互体验与千万级降本的最佳选择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真实门店实测达到 96.10% 精确度与 90.5%+ mAP50。在重点 4 国（20,000张/天）及未来全量（100,000张/天）业务下，YOLO 端侧识别带来 30FPS 实时扫码体验且服务器算力成本为 $0；相比直接调用多模态大模型 API，每年可节省 10万 ~ 270万元 费用。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38628"/>
            <a:ext cx="3337560" cy="36118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3337560" cy="8229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97180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56082"/>
                </a:solidFill>
              </a:defRPr>
            </a:pPr>
            <a:r>
              <a:rPr dirty="0" err="1"/>
              <a:t>为什么核心必须自研</a:t>
            </a:r>
            <a:r>
              <a:rPr dirty="0"/>
              <a:t> YOLO？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高精确度</a:t>
            </a:r>
            <a:r>
              <a:rPr dirty="0"/>
              <a:t> (96.10%)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在海外复杂光照、密集堆叠场景下，精确识别并统计目标包装，误检极低</a:t>
            </a:r>
            <a:r>
              <a:rPr dirty="0"/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真机实时扫描</a:t>
            </a:r>
            <a:r>
              <a:rPr dirty="0"/>
              <a:t> (30 FPS)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支持</a:t>
            </a:r>
            <a:r>
              <a:rPr dirty="0"/>
              <a:t> </a:t>
            </a:r>
            <a:r>
              <a:rPr dirty="0" err="1"/>
              <a:t>CoreML</a:t>
            </a:r>
            <a:r>
              <a:rPr dirty="0"/>
              <a:t>/NCNN </a:t>
            </a:r>
            <a:r>
              <a:rPr dirty="0" err="1"/>
              <a:t>手机本地运行，在相机取景流中实时画框，秒级核验</a:t>
            </a:r>
            <a:r>
              <a:rPr dirty="0"/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年化节省</a:t>
            </a:r>
            <a:r>
              <a:rPr dirty="0"/>
              <a:t> 10万~270万元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利用手机端算力或云端毫秒级批处理，单图算力成本极低，避免</a:t>
            </a:r>
            <a:r>
              <a:rPr dirty="0"/>
              <a:t> API </a:t>
            </a:r>
            <a:r>
              <a:rPr dirty="0" err="1"/>
              <a:t>烧钱</a:t>
            </a:r>
            <a:r>
              <a:rPr dirty="0"/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697480"/>
            <a:ext cx="333756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25696" y="2697480"/>
            <a:ext cx="333756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2834640"/>
            <a:ext cx="297180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为什么不直接全量依赖大模型？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无法做到取景框实时扫码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大模型单图需 2~6 秒且必须拍后等待，无法像扫码一样在取景流中实时画框。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密集陈列易产生计数幻觉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多模态大模型在数十件密集叠放货架下易多算/漏算，缺乏确定性像素坐标。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百万级调用下成本不可控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2万张/天需 1.1万~4.5万元/月；10万张/天需 5.4万~22.5万元/月，ROI 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1" y="2697480"/>
            <a:ext cx="333756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9871" y="2697480"/>
            <a:ext cx="3337560" cy="82296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1" y="2834640"/>
            <a:ext cx="297180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96B24"/>
                </a:solidFill>
              </a:defRPr>
            </a:pPr>
            <a:r>
              <a:t>战略推荐：端云协同二段式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端侧 YOLO：快看 &amp; 精准数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手机端打开相机 0.1 秒极速完成陈列打框、数量核销与拍摄防抖质检。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云端大模型：深读 &amp; 提建议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结合 YOLO 统计数据与 OCR 文本，云端大模型对门店做等级评分与整改建议。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实现体验、精度与成本最优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一线业务员零等待高效作业，总部获取高质量结构化数据与商业洞察。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389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实测成果：加纳（GH）真实门店两次云端训练全部突破 90% 工业级阈值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004865" cy="5358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56692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</a:defRPr>
            </a:pPr>
            <a:r>
              <a:t>真实海外业务数据云端实测（AWS EC2 GPU）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</a:defRPr>
            </a:pPr>
            <a:r>
              <a:t>样本集：加纳真实门店 350 张陈列图片（含强反光、倾斜、密集堆叠与多包遮挡）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566928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关键评估指标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第一次实测 (09-20)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yolo26m @ 960px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第二次实测 (09-22)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yolo26s @ 640px (轻量化)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精确率 (Precision)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96.10% (↑ 3.95%)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定位精度 (mAP@50)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90.51% (超高基线)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全阈值 (mAP@50-95)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59.37%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58.49%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召回率 (Recall)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83.32%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81.24%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718304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6082"/>
                </a:solidFill>
              </a:defRPr>
            </a:pPr>
            <a:r>
              <a:rPr dirty="0" err="1"/>
              <a:t>关键技术结论</a:t>
            </a:r>
            <a:r>
              <a:rPr dirty="0"/>
              <a:t>：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两次实测</a:t>
            </a:r>
            <a:r>
              <a:rPr dirty="0"/>
              <a:t> Precision </a:t>
            </a:r>
            <a:r>
              <a:rPr dirty="0" err="1"/>
              <a:t>与</a:t>
            </a:r>
            <a:r>
              <a:rPr dirty="0"/>
              <a:t> mAP50 </a:t>
            </a:r>
            <a:r>
              <a:rPr dirty="0" err="1"/>
              <a:t>均突破</a:t>
            </a:r>
            <a:r>
              <a:rPr dirty="0"/>
              <a:t> 90%，</a:t>
            </a:r>
            <a:r>
              <a:rPr dirty="0" err="1"/>
              <a:t>模型与标签定义高度可靠</a:t>
            </a:r>
            <a:r>
              <a:rPr dirty="0"/>
              <a:t>。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轻量模型</a:t>
            </a:r>
            <a:r>
              <a:rPr dirty="0"/>
              <a:t> yolo26s (640px) </a:t>
            </a:r>
            <a:r>
              <a:rPr dirty="0" err="1"/>
              <a:t>精确率高达</a:t>
            </a:r>
            <a:r>
              <a:rPr dirty="0"/>
              <a:t> 96.10%，</a:t>
            </a:r>
            <a:r>
              <a:rPr dirty="0" err="1"/>
              <a:t>误检极低，完全适合端侧实时扫描</a:t>
            </a:r>
            <a:r>
              <a:rPr dirty="0"/>
              <a:t>。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已顺利导出</a:t>
            </a:r>
            <a:r>
              <a:rPr dirty="0"/>
              <a:t> Apple </a:t>
            </a:r>
            <a:r>
              <a:rPr dirty="0" err="1"/>
              <a:t>CoreML</a:t>
            </a:r>
            <a:r>
              <a:rPr dirty="0"/>
              <a:t> (.</a:t>
            </a:r>
            <a:r>
              <a:rPr dirty="0" err="1"/>
              <a:t>mlpackage</a:t>
            </a:r>
            <a:r>
              <a:rPr dirty="0"/>
              <a:t>) </a:t>
            </a:r>
            <a:r>
              <a:rPr dirty="0" err="1"/>
              <a:t>与</a:t>
            </a:r>
            <a:r>
              <a:rPr dirty="0"/>
              <a:t> </a:t>
            </a:r>
            <a:r>
              <a:rPr dirty="0" err="1"/>
              <a:t>ONNX，成功打通移动端原生运行闭环</a:t>
            </a:r>
            <a:r>
              <a:rPr dirty="0"/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1" y="1280159"/>
            <a:ext cx="4480560" cy="528689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训练收敛指标与可视化曲线</a:t>
            </a:r>
          </a:p>
        </p:txBody>
      </p:sp>
      <p:pic>
        <p:nvPicPr>
          <p:cNvPr id="11" name="Picture 10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80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389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系统全景架构：端到端工业级数据流转与自动化训练流水线（泳道图）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14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</a:defRPr>
            </a:pPr>
            <a:r>
              <a:t>1. 业务与数据接入层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24028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SFA/App 原生上传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业务员巡店拍照自动归档至 S3 原始图片池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114800"/>
            <a:ext cx="224028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图片版本与去重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对多国（加纳/赞比亚/科特迪瓦等）原图进行 Hash 去重与元数据沉淀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280160"/>
            <a:ext cx="2514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2736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6082"/>
                </a:solidFill>
              </a:defRPr>
            </a:pPr>
            <a:r>
              <a:t>2. 智能初筛与辅助标注层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2011680"/>
            <a:ext cx="224028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RapidOCR 品牌初筛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毫秒级提取包装文字，快速过滤出包含目标品牌的图片，降噪 60%+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4114800"/>
            <a:ext cx="224028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94176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YOLO-World 预标注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自动生成高质量候选框，Label Studio 人工复核效率提升 3 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280160"/>
            <a:ext cx="2514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7132"/>
                </a:solidFill>
              </a:defRPr>
            </a:pPr>
            <a:r>
              <a:t>3. 自动化训练与评估层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2011680"/>
            <a:ext cx="224028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EC2 GPU 自动化训练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一键生成标准 YOLO 数据集，触发 A10G/L40S 云端训练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4114800"/>
            <a:ext cx="224028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指标自动化回归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自动生成结果 CSV、混淆矩阵，评估达到 90%+ 自动归档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3688" y="1280160"/>
            <a:ext cx="2514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70848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6B24"/>
                </a:solidFill>
              </a:defRPr>
            </a:pPr>
            <a:r>
              <a:t>4. 多端交付与推理应用层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0848" y="2011680"/>
            <a:ext cx="224028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62288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端侧 30FPS 实时扫描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导出 iOS CoreML 及 Android NCNN/TFLite，手机端 0 成本秒级核销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4114800"/>
            <a:ext cx="224028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62288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云端 GPU 批量审核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导出 TensorRT FP16，支持总部后台每秒数百张海量图片快速复审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389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成本精算对比：自研 YOLO vs DeepSeek / Qwen / GPT 多梯度 API 费用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业务量基准：重点 4 国（加纳/赞比亚/科特迪瓦/坦桑尼亚）20,000 张/天  |  未来全量 100,000 张/天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调研结论：DeepSeek 及通义千问 Qwen-VL 为目前全球最便宜的多模态 API（约 ¥0.003/图）；但全量规模下自研 YOLO 每年仍可节省 10万~270万元，且端侧具备 0 成本与 30FPS 实时扫码能力。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3774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模型 / 方案类型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单图 API 成本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当前 4 国规模 (2万张/天)</a:t>
                      </a:r>
                    </a:p>
                    <a:p>
                      <a:r>
                        <a:t>月度支出 / 年化支出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未来全量规模 (10万张/天)</a:t>
                      </a:r>
                    </a:p>
                    <a:p>
                      <a:r>
                        <a:t>月度支出 / 年化支出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自研 YOLO 端侧手机识别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0 元 (手机算力)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0 元 / 月 (年化 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0 元 / 月 (年化 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自研 YOLO 云端 GPU 批处理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</a:defRPr>
                      </a:pPr>
                      <a:r>
                        <a:t>~¥0.0002 / 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约 105 元 / 月 (年化 1,260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约 315 元 / 月 (年化 3,780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梯队 1: DeepSeek / Qwen-VL (极低价)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</a:defRPr>
                      </a:pPr>
                      <a:r>
                        <a:t>约 ¥0.003 / 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¥1,800 元 / 月 (年化 2.16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¥9,000 元 / 月 (年化 10.8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梯队 2: GPT-4o-mini / Haiku (中档商业)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</a:defRPr>
                      </a:pPr>
                      <a:r>
                        <a:t>约 ¥0.018 / 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¥10,800 元 / 月 (年化 13.0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¥54,000 元 / 月 (年化 64.8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梯队 3: GPT-4o / Claude Sonnet (旗舰)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</a:defRPr>
                      </a:pPr>
                      <a:r>
                        <a:t>约 ¥0.075 / 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¥45,000 元 / 月 (年化 54.0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¥225,000 元 / 月 (年化 270.0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389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技术路径深度对比：自研 YOLO 与多模态大模型核心维度剖析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298009"/>
              </p:ext>
            </p:extLst>
          </p:nvPr>
        </p:nvGraphicFramePr>
        <p:xfrm>
          <a:off x="731521" y="1280161"/>
          <a:ext cx="10776987" cy="5036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8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8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5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9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对比核心维度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自研 YOLO 检测模型路径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多模态大模型 (DeepSeek/GPT)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决策结论与影响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68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手机相机实时取景扫描</a:t>
                      </a:r>
                    </a:p>
                    <a:p>
                      <a:r>
                        <a:t>(30 FPS 毫秒级)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支持：20~50ms 本地实时画框，现场秒级辅助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不支持：单次需 2~6 秒，必须拍完上传后盲等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sz="1400" dirty="0" err="1"/>
                        <a:t>一线操作体验分水岭</a:t>
                      </a:r>
                      <a:endParaRPr sz="1400" dirty="0"/>
                    </a:p>
                    <a:p>
                      <a:r>
                        <a:rPr sz="1400" dirty="0"/>
                        <a:t>(YOLO </a:t>
                      </a:r>
                      <a:r>
                        <a:rPr sz="1400" dirty="0" err="1"/>
                        <a:t>完胜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9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密集商品精准计数</a:t>
                      </a:r>
                    </a:p>
                    <a:p>
                      <a:r>
                        <a:t>(抗遮挡与重叠)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极高准确率：像素级 Bounding Box，无计数幻觉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中弱/易幻觉：密集叠放时多算/漏算概率明显增加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sz="1400" dirty="0" err="1"/>
                        <a:t>陈列核销核心依据</a:t>
                      </a:r>
                      <a:endParaRPr sz="1400" dirty="0"/>
                    </a:p>
                    <a:p>
                      <a:r>
                        <a:rPr sz="1400" dirty="0"/>
                        <a:t>(YOLO </a:t>
                      </a:r>
                      <a:r>
                        <a:rPr sz="1400" dirty="0" err="1"/>
                        <a:t>完胜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8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弱网与离线可用性</a:t>
                      </a:r>
                    </a:p>
                    <a:p>
                      <a:r>
                        <a:t>(海外偏远门店)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100% 离线可用：模型内置手机，无网照常核查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需等待联网同步：弱网时大模型接口超时阻塞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sz="1400" dirty="0" err="1"/>
                        <a:t>决定现场落地成功率</a:t>
                      </a:r>
                      <a:endParaRPr sz="1400" dirty="0"/>
                    </a:p>
                    <a:p>
                      <a:r>
                        <a:rPr sz="1400" dirty="0"/>
                        <a:t>(YOLO </a:t>
                      </a:r>
                      <a:r>
                        <a:rPr sz="1400" dirty="0" err="1"/>
                        <a:t>完胜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25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2万~10万张/天推理成本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dirty="0" err="1"/>
                        <a:t>手机端</a:t>
                      </a:r>
                      <a:r>
                        <a:rPr dirty="0"/>
                        <a:t> 0 </a:t>
                      </a:r>
                      <a:r>
                        <a:rPr dirty="0" err="1"/>
                        <a:t>元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云端</a:t>
                      </a:r>
                      <a:r>
                        <a:rPr dirty="0"/>
                        <a:t> ~105~315 </a:t>
                      </a:r>
                      <a:r>
                        <a:rPr dirty="0" err="1"/>
                        <a:t>元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月</a:t>
                      </a:r>
                      <a:r>
                        <a:rPr dirty="0"/>
                        <a:t> (边际成本接近0)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每月 1,800 元 ~ 22.5 万元 (每年消耗数万至数百万)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sz="1400" dirty="0" err="1"/>
                        <a:t>财务</a:t>
                      </a:r>
                      <a:r>
                        <a:rPr sz="1400" dirty="0"/>
                        <a:t> ROI </a:t>
                      </a:r>
                      <a:r>
                        <a:rPr sz="1400" dirty="0" err="1"/>
                        <a:t>差距巨大</a:t>
                      </a:r>
                      <a:endParaRPr sz="1400" dirty="0"/>
                    </a:p>
                    <a:p>
                      <a:r>
                        <a:rPr sz="1400" dirty="0"/>
                        <a:t>(YOLO </a:t>
                      </a:r>
                      <a:r>
                        <a:rPr sz="1400" dirty="0" err="1"/>
                        <a:t>极具优势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68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场景理解与经营建议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不支持：仅输出商品框、类别与数量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极强：可深度理解陈列整洁度并输出经营建议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sz="1400" dirty="0" err="1"/>
                        <a:t>宏观决策与门店画像</a:t>
                      </a:r>
                      <a:endParaRPr sz="1400" dirty="0"/>
                    </a:p>
                    <a:p>
                      <a:r>
                        <a:rPr sz="1400" dirty="0"/>
                        <a:t>(</a:t>
                      </a:r>
                      <a:r>
                        <a:rPr sz="1400" dirty="0" err="1"/>
                        <a:t>大模型占优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912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后续运维资产沉淀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持续收集疑难样本，Label Studio 复核后增量重训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维护 Prompt / Few-shot 规则，维护 MCP 接口与流控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sz="1400" dirty="0"/>
                        <a:t>YOLO </a:t>
                      </a:r>
                      <a:r>
                        <a:rPr sz="1400" dirty="0" err="1"/>
                        <a:t>沉淀自研模型资产</a:t>
                      </a:r>
                      <a:endParaRPr sz="1400" dirty="0"/>
                    </a:p>
                    <a:p>
                      <a:r>
                        <a:rPr sz="1400" dirty="0" err="1"/>
                        <a:t>大模型沉淀规则资产</a:t>
                      </a:r>
                      <a:endParaRPr sz="140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389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终端实时识别剖析与手机端运行硬件最低制约要求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</a:defRPr>
            </a:pPr>
            <a:r>
              <a:t>为什么手机相机实时扫描只能用 YOLO？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内存预算差距巨大：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 YOLO 导出的 CoreML/NCNN 仅占 15MB~25MB 内存，而哪怕最小的多模态大模型也需占用 2GB~4GB 运行内存，手机极易崩溃闪退。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相机帧率预算仅 33ms：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 实时取景流要求 30 FPS。YOLO 硬件加速仅需 20~50ms，多模态大模型单次推理需 2~6 秒，根本无法做取景器动态实时追踪。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现场防抖质检与即刻纠偏：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 业务员在按下快门前即可在屏幕看到识别数量与绿框，若模糊/反光实时提醒重拍，杜绝事后返工。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密集计数的算法回归确定性：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 YOLO 具备专用 Anchor-free 定位回归头，对重叠包装坐标确定，彻底避免大模型的文本数错幻觉。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7132"/>
                </a:solidFill>
              </a:defRPr>
            </a:pPr>
            <a:r>
              <a:t>手机端运行 YOLO 的硬件制约与配置要求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最低运行内存门槛 (RAM)：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</a:defRPr>
            </a:pPr>
            <a:r>
              <a:t>   最低要求 3GB RAM (建议 4GB 及以上)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</a:defRPr>
            </a:pPr>
            <a:r>
              <a:t>   YOLO 自身仅占用 ~20MB，但 Android 系统 + 相机预览流 + SFA App 基础运行需要 3GB 底线保证不被系统杀后台。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最低处理器要求 (CPU)：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</a:defRPr>
            </a:pPr>
            <a:r>
              <a:t>   64 位 ARMv8 架构（4核 / 8核）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</a:defRPr>
            </a:pPr>
            <a:r>
              <a:t>   如联发科 Helio P35 / G35、高通骁龙 450 / 665 及以上入门芯片，即可达到 10~15 FPS 识别帧率。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推荐流畅硬件配置：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</a:defRPr>
            </a:pPr>
            <a:r>
              <a:t>   4GB~6GB RAM + 独立 NPU/GPU 芯片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</a:defRPr>
            </a:pPr>
            <a:r>
              <a:t>   如高通骁龙 680 / 778G、天玑 700 等，端侧推理耗时可压至 20ms 以内，达到满帧 30 FPS 丝滑 AR 体验。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操作系统与相机要求：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</a:defRPr>
            </a:pPr>
            <a:r>
              <a:t>   Android 8.0+ / iOS 13+，800万像素 AF 相机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</a:defRPr>
            </a:pPr>
            <a:r>
              <a:t>   支持 Camera2 API 与自动对焦功能，确保货架细节清晰。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389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  <a:latin typeface="Arial"/>
              </a:defRPr>
            </a:pPr>
            <a:r>
              <a:rPr dirty="0" err="1"/>
              <a:t>智能陈列识别技术与业务决策汇报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运维与演进要求：自研 YOLO 与多模态大模型两条路径的落地代价对比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6082"/>
                </a:solidFill>
              </a:defRPr>
            </a:pPr>
            <a:r>
              <a:t>自研 YOLO 路径的运维与工程要求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数据闭环回流机制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业务端上线后，收集业务员人工上报或置信度 &lt;0.4 的疑难误检漏检图片，持续回流到原始图片池。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标注平台与复核规范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维持已搭建的 Label Studio 标注规范，新引入品牌/SKU 时仅需标注 100~200 张典型图即可扩展新类别。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自动化 CI/CD 训练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基于已建立的自动化工作流，一键触发 GPU 训练、数据校验与自动回归评估。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移动端模型热更新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在 Flutter 端开发模型版本拉取接口，新版 best.pt 导出 CoreML/NCNN 后无需发版 App 即可静默热推模型。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7132"/>
                </a:solidFill>
              </a:defRPr>
            </a:pPr>
            <a:r>
              <a:t>多模态大模型路径的运维与协议要求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零模型自研负担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无需训练模型，无需管理 GPU 训练集群与 PyTorch 环境，基础设施极度轻量。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Prompt &amp; Few-Shot 维护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需持续调试和维护陈列打分与门店画像的 Prompt 模板，维护典型货架示例以保证规则对齐。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Skill / MCP 协议编排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维护 Model Context Protocol (MCP) 或 Agent Skill 接口，连接 CRM、商品主数据与图片库。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JSON Schema 强校验容错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大模型输出天然存在格式漂移风险，必须建立 Pydantic / JSON Schema 解析与异常重试机制。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API 成本与并发流控看板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监控供应商 API 配额、Token 消耗速率与响应超时，配置多供应商容灾降级方案。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战略落地推荐：『端侧 YOLO 极速检测 + 云端大模型深度决策』端云协同架构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</a:defRPr>
            </a:pPr>
            <a:r>
              <a:t>【前端】第一段：端侧轻量 YOLO 实时识别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</a:defRPr>
            </a:pPr>
            <a:r>
              <a:t>定位：极致的实时交互、精准计数与防抖质检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手机相机实时扫码式识别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打开 Flutter 相机，CoreML/NCNN 毫秒级画框追踪，显示当前识别到的包装数量与类别。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现场拍摄质量拦截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实时检测模糊、反光、过曝、角度倾斜，在拍摄瞬间提示业务员重拍，从源头保证数据质量。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本品与竞品即刻核销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现场 0 秒返回本品陈列数、竞品陈列数与排面占比，无网络也能即刻完成基础合规巡查。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0 云端算力与额外流量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全部在手机端运行，不产生任何后端 GPU 计费与服务器吞吐压力。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6B24"/>
                </a:solidFill>
              </a:defRPr>
            </a:pPr>
            <a:r>
              <a:t>【后端】第二段：云端多模态 + 规则引擎深度赋能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</a:defRPr>
            </a:pPr>
            <a:r>
              <a:t>定位：多维场景理解、陈列等级评分与经营决策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</a:defRPr>
            </a:pPr>
            <a:r>
              <a:t>• 多维数据融合输入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将端侧 YOLO 统计数量 + OCR 价签识别文本 + 门店整图结构化汇总送入云端。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</a:defRPr>
            </a:pPr>
            <a:r>
              <a:t>• AI 智能陈列合规评分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多模态大模型结合业务规则，对货架饱满度、黄金陈列位、物料布置给出客观分值。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</a:defRPr>
            </a:pPr>
            <a:r>
              <a:t>• AI 自动生成门店画像与等级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反推门店商圈等级、经营能力与分销潜力，免除基层访销员主观误判。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</a:defRPr>
            </a:pPr>
            <a:r>
              <a:t>• 输出个性化整改与经营建议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自动向业务员及督导推送整改话术与补货推荐，直接反哺 CRM 2.0。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推进计划：分阶段商业化落地路线图与近期工作规划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3756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337560" cy="82296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297180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Phase 1: 4国试点闭环 (1~2个月)</a:t>
            </a:r>
          </a:p>
          <a:p>
            <a:pPr>
              <a:spcBef>
                <a:spcPts val="300"/>
              </a:spcBef>
              <a:defRPr sz="1400" b="1">
                <a:solidFill>
                  <a:srgbClr val="0E2841"/>
                </a:solidFill>
              </a:defRPr>
            </a:pPr>
            <a:r>
              <a:t>加纳/赞比亚/科特迪瓦/坦桑尼亚端侧试点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Flutter 手机端集成 YOLO CoreML/NCNN 插件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在重点 4 国销售团队开启相机实时扫描功能试点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打通端侧『低置信度/误检图片』自动化回流管道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验证一线业务员巡店时间是否由 3 分钟缩短至 20 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280160"/>
            <a:ext cx="333756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25696" y="1280160"/>
            <a:ext cx="3337560" cy="8229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417320"/>
            <a:ext cx="297180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56082"/>
                </a:solidFill>
              </a:defRPr>
            </a:pPr>
            <a:r>
              <a:t>Phase 2: 全量品类推广 (3~4个月)</a:t>
            </a:r>
          </a:p>
          <a:p>
            <a:pPr>
              <a:spcBef>
                <a:spcPts val="300"/>
              </a:spcBef>
              <a:defRPr sz="1400" b="1">
                <a:solidFill>
                  <a:srgbClr val="0E2841"/>
                </a:solidFill>
              </a:defRPr>
            </a:pPr>
            <a:r>
              <a:t>日均 10 万张/天 全量覆盖与流水线自动化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扩展至 Softcare, Kleesoft, Doffi, 洗涤, 香皂等全品类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启用自动化增量重训流水线，每周无感升级模型权重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建立多品牌、多国家、多规格的统一模型版本资产库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全面替代人工后台初审，自动化审核率达 90%+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1" y="1280160"/>
            <a:ext cx="333756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1" y="1280160"/>
            <a:ext cx="3337560" cy="82296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1" y="1417320"/>
            <a:ext cx="297180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96B24"/>
                </a:solidFill>
              </a:defRPr>
            </a:pPr>
            <a:r>
              <a:t>Phase 3: 智能大脑升级 (5~6个月)</a:t>
            </a:r>
          </a:p>
          <a:p>
            <a:pPr>
              <a:spcBef>
                <a:spcPts val="300"/>
              </a:spcBef>
              <a:defRPr sz="1400" b="1">
                <a:solidFill>
                  <a:srgbClr val="0E2841"/>
                </a:solidFill>
              </a:defRPr>
            </a:pPr>
            <a:r>
              <a:t>接入云端多模态形成决策大脑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云端接入 DeepSeek / Qwen-VL 多模态大模型与规则引擎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上线 AI 自动评估门店等级与陈列评分功能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与 CRM 2.0 深度融合，输出千店千面的进货与整改建议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形成从『端侧快核销』到『总部智决策』的完整商业闭环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建议 COO &amp; CTO 决策项：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1. 批准启动 Phase 1 手机端（Flutter）实时扫描插件开发与 4 国试点； 2. 同意设立常态化样本回流与 Label Studio 快速复核机制。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SQ_Pi5k2ZEu22YOXxpg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>
          <a:noFill/>
        </a:ln>
      </a:spPr>
      <a:bodyPr rtlCol="0" anchor="ctr"/>
      <a:lstStyle>
        <a:defPPr marL="342900" indent="-342900" algn="l" defTabSz="914400" eaLnBrk="1" fontAlgn="ctr" hangingPunct="1">
          <a:lnSpc>
            <a:spcPct val="150000"/>
          </a:lnSpc>
          <a:spcBef>
            <a:spcPts val="0"/>
          </a:spcBef>
          <a:spcAft>
            <a:spcPts val="0"/>
          </a:spcAft>
          <a:buFont typeface="+mj-lt"/>
          <a:buAutoNum type="arabicPeriod"/>
          <a:defRPr sz="1600" dirty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dirty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7399</TotalTime>
  <Words>1528</Words>
  <Application>Microsoft Macintosh PowerPoint</Application>
  <PresentationFormat>宽屏</PresentationFormat>
  <Paragraphs>241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微软雅黑</vt:lpstr>
      <vt:lpstr>Arial</vt:lpstr>
      <vt:lpstr>IBM Plex Sans</vt:lpstr>
      <vt:lpstr>1_Office 主题​​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biao guo</dc:creator>
  <cp:lastModifiedBy>Biao Guo</cp:lastModifiedBy>
  <cp:revision>151</cp:revision>
  <dcterms:created xsi:type="dcterms:W3CDTF">2025-12-03T05:05:39Z</dcterms:created>
  <dcterms:modified xsi:type="dcterms:W3CDTF">2026-09-23T04:22:22Z</dcterms:modified>
</cp:coreProperties>
</file>